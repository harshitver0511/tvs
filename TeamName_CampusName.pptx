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Inter ExtraBold"/>
      <p:bold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ExtraBold-bold.fntdata"/><Relationship Id="rId9" Type="http://schemas.openxmlformats.org/officeDocument/2006/relationships/font" Target="fonts/InterExtraBold-boldItalic.fntdata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8a671d399535e4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8a671d399535e4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over Page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2081075" y="2176325"/>
            <a:ext cx="4910700" cy="14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14400" y="1508760"/>
            <a:ext cx="73152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050" b="1">
                <a:solidFill>
                  <a:srgbClr val="FFD152"/>
                </a:solidFill>
                <a:latin typeface="Calibri"/>
              </a:defRPr>
            </a:pPr>
            <a:r>
              <a:t>TVS CREDIT E.P.I.C 8.0  //  GRAND FINALE  //  PROBLEM STATEMENT (c)</a:t>
            </a:r>
          </a:p>
          <a:p>
            <a:pPr algn="ctr">
              <a:spcAft>
                <a:spcPts val="600"/>
              </a:spcAft>
              <a:defRPr sz="2800" b="1">
                <a:solidFill>
                  <a:srgbClr val="FFFFFF"/>
                </a:solidFill>
                <a:latin typeface="Arial Black"/>
              </a:defRPr>
            </a:pPr>
            <a:r>
              <a:t>SMART LENDING DECISION HUB</a:t>
            </a:r>
          </a:p>
          <a:p>
            <a:pPr algn="ctr">
              <a:spcAft>
                <a:spcPts val="1200"/>
              </a:spcAft>
              <a:defRPr sz="1150" b="1">
                <a:solidFill>
                  <a:srgbClr val="EEF8F2"/>
                </a:solidFill>
                <a:latin typeface="Calibri"/>
              </a:defRPr>
            </a:pPr>
            <a:r>
              <a:t>Autonomous Geospatial AI, Sentinel-2 Crop Telemetry &amp; Harvest-Aligned Dynamic Repayments for Rural Bharat</a:t>
            </a:r>
          </a:p>
          <a:p>
            <a:pPr algn="ctr">
              <a:spcAft>
                <a:spcPts val="1000"/>
              </a:spcAft>
              <a:defRPr sz="1100">
                <a:solidFill>
                  <a:srgbClr val="FFD152"/>
                </a:solidFill>
                <a:latin typeface="Arial Black"/>
              </a:defRPr>
            </a:pPr>
            <a:r>
              <a:t>TEAM: hverma0511_CampusName  |  MEMBERS: Harshit Verma &amp; Nandani Singh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34440" y="4343400"/>
            <a:ext cx="12344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20" b="1">
                <a:solidFill>
                  <a:srgbClr val="17402C"/>
                </a:solidFill>
                <a:latin typeface="Arial Black"/>
              </a:defRPr>
            </a:pPr>
            <a:r>
              <a:t>&lt; 48H SANCTIONS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78608" y="4343400"/>
            <a:ext cx="12344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20" b="1">
                <a:solidFill>
                  <a:srgbClr val="17402C"/>
                </a:solidFill>
                <a:latin typeface="Arial Black"/>
              </a:defRPr>
            </a:pPr>
            <a:r>
              <a:t>10M SATELLITE NDVI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922776" y="4343400"/>
            <a:ext cx="12344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20" b="1">
                <a:solidFill>
                  <a:srgbClr val="17402C"/>
                </a:solidFill>
                <a:latin typeface="Arial Black"/>
              </a:defRPr>
            </a:pPr>
            <a:r>
              <a:t>TREESHAP EXPLAINABILITY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266944" y="4343400"/>
            <a:ext cx="12344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20" b="1">
                <a:solidFill>
                  <a:srgbClr val="17402C"/>
                </a:solidFill>
                <a:latin typeface="Arial Black"/>
              </a:defRPr>
            </a:pPr>
            <a:r>
              <a:t>HARVEST BULLET EMIS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11112" y="4343400"/>
            <a:ext cx="123444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720" b="1">
                <a:solidFill>
                  <a:srgbClr val="17402C"/>
                </a:solidFill>
                <a:latin typeface="Arial Black"/>
              </a:defRPr>
            </a:pPr>
            <a:r>
              <a:t>GEMINI AI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THE RURAL CREDIT CHASM: EXCLUSION, FRICTION &amp; DEFAULT TRAPS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1051560"/>
            <a:ext cx="3931920" cy="1600200"/>
          </a:xfrm>
          <a:prstGeom prst="rect">
            <a:avLst/>
          </a:prstGeom>
          <a:solidFill>
            <a:srgbClr val="FDEEE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200"/>
              </a:spcAft>
              <a:defRPr sz="950">
                <a:solidFill>
                  <a:srgbClr val="FF6B6B"/>
                </a:solidFill>
                <a:latin typeface="Arial Black"/>
              </a:defRPr>
            </a:pPr>
            <a:r>
              <a:t>01 // 85% THIN-FILE EXCLUSION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Over 120M Indian smallholders operate in cash with zero formal CIBIL scores.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Traditional banks demand 3-year ITRs &amp; audited pay-slips they do not have.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Forces farmers into predatory moneylenders charging 36% - 60% annualized APR.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17720" y="1051560"/>
            <a:ext cx="3931920" cy="1600200"/>
          </a:xfrm>
          <a:prstGeom prst="rect">
            <a:avLst/>
          </a:prstGeom>
          <a:solidFill>
            <a:srgbClr val="FFFAE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200"/>
              </a:spcAft>
              <a:defRPr sz="950">
                <a:solidFill>
                  <a:srgbClr val="D97706"/>
                </a:solidFill>
                <a:latin typeface="Arial Black"/>
              </a:defRPr>
            </a:pPr>
            <a:r>
              <a:t>02 // ₹3,500+ MANUAL AUDIT COST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Manual field verification takes 14 to 21 days with revenue-patwari site audits.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Physical inspection costs ₹3,500 - ₹5,000 per application, inflating operational CAC.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High vulnerability to boundary falsification, tenant disputes, and ghost-plot fraud.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2743200"/>
            <a:ext cx="3931920" cy="1600200"/>
          </a:xfrm>
          <a:prstGeom prst="rect">
            <a:avLst/>
          </a:prstGeom>
          <a:solidFill>
            <a:srgbClr val="F0F6FA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200"/>
              </a:spcAft>
              <a:defRPr sz="950">
                <a:solidFill>
                  <a:srgbClr val="00609C"/>
                </a:solidFill>
                <a:latin typeface="Arial Black"/>
              </a:defRPr>
            </a:pPr>
            <a:r>
              <a:t>03 // RIGID FLAT MONTHLY EMIs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Conventional banking forces equal monthly EMIs (e.g. ₹12,500/mo) throughout the year.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During sowing seasons (Jun-Aug), farmer cash is depleted by seeds/fertilizers.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Triggers structural loan defaults despite guaranteed bumper harvest maturity in 90 days.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2743200"/>
            <a:ext cx="3931920" cy="1600200"/>
          </a:xfrm>
          <a:prstGeom prst="rect">
            <a:avLst/>
          </a:prstGeom>
          <a:solidFill>
            <a:srgbClr val="EF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spcAft>
                <a:spcPts val="200"/>
              </a:spcAft>
              <a:defRPr sz="950">
                <a:solidFill>
                  <a:srgbClr val="1E874B"/>
                </a:solidFill>
                <a:latin typeface="Arial Black"/>
              </a:defRPr>
            </a:pPr>
            <a:r>
              <a:t>04 // CLIMATE &amp; MANDI PRICE SHOCKS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Monsoon deficits (-30% rainfall) and localized pest attacks trigger regional defaults.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Sudden wholesale APMC Mandi price crashes wipe out expected harvest profits.</a:t>
            </a:r>
          </a:p>
          <a:p>
            <a:pPr>
              <a:spcAft>
                <a:spcPts val="150"/>
              </a:spcAft>
              <a:defRPr sz="819">
                <a:solidFill>
                  <a:srgbClr val="111111"/>
                </a:solidFill>
                <a:latin typeface="Calibri"/>
              </a:defRPr>
            </a:pPr>
            <a:r>
              <a:t>• Lenders lack continuous surveillance to restructure loans before accounts turn into NPAs.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80560"/>
            <a:ext cx="80010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54864"/>
          <a:lstStyle/>
          <a:p>
            <a:pPr algn="ctr">
              <a:defRPr sz="850" b="1">
                <a:solidFill>
                  <a:srgbClr val="17402C"/>
                </a:solidFill>
                <a:latin typeface="Calibri"/>
              </a:defRPr>
            </a:pPr>
            <a:r>
              <a:t>CORE THESIS: Replace manual friction with objective Sentinel-2 satellite truth, and align debt repayment with agricultural crop cashflows.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FULL-STACK ARCHITECTURE: 5-PILLAR DECISION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508760" cy="2971800"/>
          </a:xfrm>
          <a:prstGeom prst="rect">
            <a:avLst/>
          </a:prstGeom>
          <a:solidFill>
            <a:srgbClr val="F0F6FA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>
                <a:solidFill>
                  <a:srgbClr val="00609C"/>
                </a:solidFill>
                <a:latin typeface="Arial Black"/>
              </a:defRPr>
            </a:pPr>
            <a:r>
              <a:t>STAGE 01</a:t>
            </a:r>
          </a:p>
          <a:p>
            <a:pPr>
              <a:spcAft>
                <a:spcPts val="600"/>
              </a:spcAft>
              <a:defRPr sz="880">
                <a:solidFill>
                  <a:srgbClr val="111111"/>
                </a:solidFill>
                <a:latin typeface="Arial Black"/>
              </a:defRPr>
            </a:pPr>
            <a:r>
              <a:t>CLIENT &amp; UX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Next.js 16 PWA (Installable)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Offline IndexedDB Drafts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Bilingual Hindi &amp; English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Web Speech Voice In/Out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Low-Data Network Toggle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75688" y="2286000"/>
            <a:ext cx="73152" cy="182880"/>
          </a:xfrm>
          <a:prstGeom prst="rightArrow">
            <a:avLst/>
          </a:prstGeom>
          <a:solidFill>
            <a:srgbClr val="17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67128" y="1051560"/>
            <a:ext cx="1508760" cy="2971800"/>
          </a:xfrm>
          <a:prstGeom prst="rect">
            <a:avLst/>
          </a:prstGeom>
          <a:solidFill>
            <a:srgbClr val="EF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>
                <a:solidFill>
                  <a:srgbClr val="1E874B"/>
                </a:solidFill>
                <a:latin typeface="Arial Black"/>
              </a:defRPr>
            </a:pPr>
            <a:r>
              <a:t>STAGE 02</a:t>
            </a:r>
          </a:p>
          <a:p>
            <a:pPr>
              <a:spcAft>
                <a:spcPts val="600"/>
              </a:spcAft>
              <a:defRPr sz="880">
                <a:solidFill>
                  <a:srgbClr val="111111"/>
                </a:solidFill>
                <a:latin typeface="Arial Black"/>
              </a:defRPr>
            </a:pPr>
            <a:r>
              <a:t>GATEWAY &amp; SECURITY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Vercel Edge Gateway (bom1)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Sliding-Window Rate Limiting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Zod API Request Contracts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AES-256-GCM PII Encryption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Multi-Tier RBAC Policies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94176" y="2286000"/>
            <a:ext cx="73152" cy="182880"/>
          </a:xfrm>
          <a:prstGeom prst="rightArrow">
            <a:avLst/>
          </a:prstGeom>
          <a:solidFill>
            <a:srgbClr val="17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85616" y="1051560"/>
            <a:ext cx="1508760" cy="2971800"/>
          </a:xfrm>
          <a:prstGeom prst="rect">
            <a:avLst/>
          </a:prstGeom>
          <a:solidFill>
            <a:srgbClr val="FFFAE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>
                <a:solidFill>
                  <a:srgbClr val="D97706"/>
                </a:solidFill>
                <a:latin typeface="Arial Black"/>
              </a:defRPr>
            </a:pPr>
            <a:r>
              <a:t>STAGE 03</a:t>
            </a:r>
          </a:p>
          <a:p>
            <a:pPr>
              <a:spcAft>
                <a:spcPts val="600"/>
              </a:spcAft>
              <a:defRPr sz="880">
                <a:solidFill>
                  <a:srgbClr val="111111"/>
                </a:solidFill>
                <a:latin typeface="Arial Black"/>
              </a:defRPr>
            </a:pPr>
            <a:r>
              <a:t>TELEMETRY ENGINE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Copernicus Sentinel-2 (10m)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NDVI Vegetative Curve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NASA POWER Rain Anomaly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APMC Mandi Real-Time Price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PostGIS ST_Area Cadastre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12664" y="2286000"/>
            <a:ext cx="73152" cy="182880"/>
          </a:xfrm>
          <a:prstGeom prst="rightArrow">
            <a:avLst/>
          </a:prstGeom>
          <a:solidFill>
            <a:srgbClr val="17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4104" y="1051560"/>
            <a:ext cx="1508760" cy="2971800"/>
          </a:xfrm>
          <a:prstGeom prst="rect">
            <a:avLst/>
          </a:prstGeom>
          <a:solidFill>
            <a:srgbClr val="F5F2FB"/>
          </a:solidFill>
          <a:ln w="19050">
            <a:solidFill>
              <a:srgbClr val="B8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>
                <a:solidFill>
                  <a:srgbClr val="B8A9FF"/>
                </a:solidFill>
                <a:latin typeface="Arial Black"/>
              </a:defRPr>
            </a:pPr>
            <a:r>
              <a:t>STAGE 04</a:t>
            </a:r>
          </a:p>
          <a:p>
            <a:pPr>
              <a:spcAft>
                <a:spcPts val="600"/>
              </a:spcAft>
              <a:defRPr sz="880">
                <a:solidFill>
                  <a:srgbClr val="111111"/>
                </a:solidFill>
                <a:latin typeface="Arial Black"/>
              </a:defRPr>
            </a:pPr>
            <a:r>
              <a:t>AI SCORING CORE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FastAPI Geo-ML Service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LightGBM Gradient Model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TreeSHAP Factor Drivers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Alternative Data Scoring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Dynamic EMI Simulator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31152" y="2286000"/>
            <a:ext cx="73152" cy="182880"/>
          </a:xfrm>
          <a:prstGeom prst="rightArrow">
            <a:avLst/>
          </a:prstGeom>
          <a:solidFill>
            <a:srgbClr val="174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22592" y="1051560"/>
            <a:ext cx="1508760" cy="2971800"/>
          </a:xfrm>
          <a:prstGeom prst="rect">
            <a:avLst/>
          </a:prstGeom>
          <a:solidFill>
            <a:srgbClr val="FDEEE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00">
                <a:solidFill>
                  <a:srgbClr val="FF6B6B"/>
                </a:solidFill>
                <a:latin typeface="Arial Black"/>
              </a:defRPr>
            </a:pPr>
            <a:r>
              <a:t>STAGE 05</a:t>
            </a:r>
          </a:p>
          <a:p>
            <a:pPr>
              <a:spcAft>
                <a:spcPts val="600"/>
              </a:spcAft>
              <a:defRPr sz="880">
                <a:solidFill>
                  <a:srgbClr val="111111"/>
                </a:solidFill>
                <a:latin typeface="Arial Black"/>
              </a:defRPr>
            </a:pPr>
            <a:r>
              <a:t>GOVERNANCE &amp; RADAR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RBI Digital Lending KFS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3-Day Cooling-Off Window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DPDP Act Consent Portal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Sec 12 Right to Erasure</a:t>
            </a:r>
          </a:p>
          <a:p>
            <a:pPr>
              <a:spcAft>
                <a:spcPts val="300"/>
              </a:spcAft>
              <a:defRPr sz="780" b="1">
                <a:solidFill>
                  <a:srgbClr val="111111"/>
                </a:solidFill>
                <a:latin typeface="Calibri"/>
              </a:defRPr>
            </a:pPr>
            <a:r>
              <a:t>▸ Daily Anomaly QStash Cron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80010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850">
                <a:solidFill>
                  <a:srgbClr val="17402C"/>
                </a:solidFill>
                <a:latin typeface="Arial Black"/>
              </a:defRPr>
            </a:pPr>
            <a:r>
              <a:t>PRODUCTION TECH STACK &amp; INTEGRATIONS:</a:t>
            </a:r>
          </a:p>
          <a:p>
            <a:pPr>
              <a:defRPr sz="800" b="1">
                <a:solidFill>
                  <a:srgbClr val="111111"/>
                </a:solidFill>
                <a:latin typeface="Calibri"/>
              </a:defRPr>
            </a:pPr>
            <a:r>
              <a:t>Next.js 16.3 (Turbopack) • TypeScript 5 • Python 3.11 FastAPI • Supabase Postgres + PostGIS • Upstash Redis/QStash • Google Gemini 2.5 Flash • Copernicus CDSE • NASA POWER • Serwist PWA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GEOSPATIAL TELEMETRY: SENTINEL-2 NDVI &amp; WEATHER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88620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1000">
                <a:solidFill>
                  <a:srgbClr val="17402C"/>
                </a:solidFill>
                <a:latin typeface="Arial Black"/>
              </a:defRPr>
            </a:pPr>
            <a:r>
              <a:t>SATELLITE &amp; CLIMATE INGESTION PIPELINE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10-Meter Optical Multi-Spectral Resolution: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Ingests Sentinel-2A and 2B constellations revisiting farm parcels every 5 days for real-time cloud-masked telemetry.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Normalized Difference Vegetation Index (NDVI):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Calculated via (Band 8 NIR - Band 4 Red) / (Band 8 NIR + Band 4 Red). Direct indicator of active chlorophyll and biomass health.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Cloud Masking (SCL) &amp; SAR Fallback: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Scene Classification Layer masks clouds/shadows; automatic fallback to Sentinel-1 C-Band Synthetic Aperture Radar during monsoon overcast.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NASA POWER Climate Reanalysis: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Ingests 90-day precipitation and computes % deviation against the 10-year district moving average to detect localized drought or flood stress.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PostGIS Cadastral Verification: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Calculates polygon area via ST_Area(geom::geography). Automatically flags discrepancies &gt;20% between declared and measured acreage.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51560"/>
            <a:ext cx="3886200" cy="3749039"/>
          </a:xfrm>
          <a:prstGeom prst="rect">
            <a:avLst/>
          </a:prstGeom>
          <a:solidFill>
            <a:srgbClr val="EF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1000">
                <a:solidFill>
                  <a:srgbClr val="17402C"/>
                </a:solidFill>
                <a:latin typeface="Arial Black"/>
              </a:defRPr>
            </a:pPr>
            <a:r>
              <a:t>NDVI UNDERWRITING THRESHOLD MATRIX</a:t>
            </a:r>
          </a:p>
          <a:p>
            <a:pPr>
              <a:defRPr sz="819">
                <a:solidFill>
                  <a:srgbClr val="1E874B"/>
                </a:solidFill>
                <a:latin typeface="Arial Black"/>
              </a:defRPr>
            </a:pPr>
            <a:r>
              <a:t>■ NDVI &gt; 0.65 (OPTIMAL CROP VIGOR)</a:t>
            </a:r>
          </a:p>
          <a:p>
            <a:pPr>
              <a:spcAft>
                <a:spcPts val="300"/>
              </a:spcAft>
              <a:defRPr sz="760">
                <a:solidFill>
                  <a:srgbClr val="111111"/>
                </a:solidFill>
                <a:latin typeface="Calibri"/>
              </a:defRPr>
            </a:pPr>
            <a:r>
              <a:t>  Condition: High Chlorophyll Biomass</a:t>
            </a:r>
            <a:br/>
            <a:r>
              <a:t>  Action: Green Channel Sanction: Up to 90% LTV, preferred 11.5% interest rate, zero physical inspection needed.</a:t>
            </a:r>
          </a:p>
          <a:p>
            <a:pPr>
              <a:defRPr sz="819">
                <a:solidFill>
                  <a:srgbClr val="00609C"/>
                </a:solidFill>
                <a:latin typeface="Arial Black"/>
              </a:defRPr>
            </a:pPr>
            <a:r>
              <a:t>■ NDVI 0.45 - 0.65 (NORMAL HEALTH)</a:t>
            </a:r>
          </a:p>
          <a:p>
            <a:pPr>
              <a:spcAft>
                <a:spcPts val="300"/>
              </a:spcAft>
              <a:defRPr sz="760">
                <a:solidFill>
                  <a:srgbClr val="111111"/>
                </a:solidFill>
                <a:latin typeface="Calibri"/>
              </a:defRPr>
            </a:pPr>
            <a:r>
              <a:t>  Condition: Standard Vegetative Growth</a:t>
            </a:r>
            <a:br/>
            <a:r>
              <a:t>  Action: Standard Approval: 80% LTV, 12.2% interest rate, automated disbursal directly into farmer's bank account.</a:t>
            </a:r>
          </a:p>
          <a:p>
            <a:pPr>
              <a:defRPr sz="819">
                <a:solidFill>
                  <a:srgbClr val="D97706"/>
                </a:solidFill>
                <a:latin typeface="Arial Black"/>
              </a:defRPr>
            </a:pPr>
            <a:r>
              <a:t>■ NDVI 0.25 - 0.45 (MOISTURE STRESS)</a:t>
            </a:r>
          </a:p>
          <a:p>
            <a:pPr>
              <a:spcAft>
                <a:spcPts val="300"/>
              </a:spcAft>
              <a:defRPr sz="760">
                <a:solidFill>
                  <a:srgbClr val="111111"/>
                </a:solidFill>
                <a:latin typeface="Calibri"/>
              </a:defRPr>
            </a:pPr>
            <a:r>
              <a:t>  Condition: Vegetative Growth Deficit</a:t>
            </a:r>
            <a:br/>
            <a:r>
              <a:t>  Action: Conditional Approval: Requires borewell/drip irrigation validation or secondary co-applicant guarantee.</a:t>
            </a:r>
          </a:p>
          <a:p>
            <a:pPr>
              <a:defRPr sz="819">
                <a:solidFill>
                  <a:srgbClr val="FF6B6B"/>
                </a:solidFill>
                <a:latin typeface="Arial Black"/>
              </a:defRPr>
            </a:pPr>
            <a:r>
              <a:t>■ NDVI &lt; 0.25 (BARREN / FAILURE)</a:t>
            </a:r>
          </a:p>
          <a:p>
            <a:pPr>
              <a:spcAft>
                <a:spcPts val="300"/>
              </a:spcAft>
              <a:defRPr sz="760">
                <a:solidFill>
                  <a:srgbClr val="111111"/>
                </a:solidFill>
                <a:latin typeface="Calibri"/>
              </a:defRPr>
            </a:pPr>
            <a:r>
              <a:t>  Condition: Stunted Crop / Dry Plot</a:t>
            </a:r>
            <a:br/>
            <a:r>
              <a:t>  Action: Decline / Advisory: Automatically diverted to PMFBY crop insurance support &amp; soil conditioning advisory.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EXPLAINABLE AI: LIGHTGBM SCORING &amp; TREESHAP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88620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1000">
                <a:solidFill>
                  <a:srgbClr val="00609C"/>
                </a:solidFill>
                <a:latin typeface="Arial Black"/>
              </a:defRPr>
            </a:pPr>
            <a:r>
              <a:t>THE EXPLAINABILITY IMPERATIVE (WHY SHAP?)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Eliminating the 'Black-Box' Risk:</a:t>
            </a:r>
          </a:p>
          <a:p>
            <a:pPr>
              <a:spcAft>
                <a:spcPts val="3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Traditional deep learning models generate scores without explanation, violating RBI fair-lending mandates and preventing credit officer buy-in.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Local Shapley Additive Explanations:</a:t>
            </a:r>
          </a:p>
          <a:p>
            <a:pPr>
              <a:spcAft>
                <a:spcPts val="3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TreeSHAP calculates exact additive feature contributions for each applicant, showing precisely which variables increased or decreased creditworthiness.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Auditable Credit Memo Generation:</a:t>
            </a:r>
          </a:p>
          <a:p>
            <a:pPr>
              <a:spcAft>
                <a:spcPts val="3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Transforms algorithmic output into a clean, human-readable underwriting sheet with objective risk tier classification (Tier A to D).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Bias &amp; Discrimination Mitigation:</a:t>
            </a:r>
          </a:p>
          <a:p>
            <a:pPr>
              <a:spcAft>
                <a:spcPts val="3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Excludes protected personal attributes; scores strictly on agronomic health, soil potential, weather resiliency, and mandi proximity.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51560"/>
            <a:ext cx="3886200" cy="3749039"/>
          </a:xfrm>
          <a:prstGeom prst="rect">
            <a:avLst/>
          </a:prstGeom>
          <a:solidFill>
            <a:srgbClr val="F0F6FA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950">
                <a:solidFill>
                  <a:srgbClr val="00609C"/>
                </a:solidFill>
                <a:latin typeface="Arial Black"/>
              </a:defRPr>
            </a:pPr>
            <a:r>
              <a:t>SHAP WATERFALL DECOMPOSITION (APPLICANT: RAMESH PATIL)</a:t>
            </a:r>
          </a:p>
          <a:p>
            <a:pPr>
              <a:spcAft>
                <a:spcPts val="200"/>
              </a:spcAft>
              <a:defRPr sz="800" b="1">
                <a:solidFill>
                  <a:srgbClr val="555555"/>
                </a:solidFill>
                <a:latin typeface="Calibri"/>
              </a:defRPr>
            </a:pPr>
            <a:r>
              <a:t>• Base Population Score (Rural Benchmark):  580 / 900</a:t>
            </a:r>
          </a:p>
          <a:p>
            <a:pPr>
              <a:spcAft>
                <a:spcPts val="200"/>
              </a:spcAft>
              <a:defRPr sz="800" b="1">
                <a:solidFill>
                  <a:srgbClr val="1E874B"/>
                </a:solidFill>
                <a:latin typeface="Calibri"/>
              </a:defRPr>
            </a:pPr>
            <a:r>
              <a:t>• [+] Sentinel-2 Crop Health (NDVI 0.72 vs 0.52):  +85 Points</a:t>
            </a:r>
          </a:p>
          <a:p>
            <a:pPr>
              <a:spcAft>
                <a:spcPts val="200"/>
              </a:spcAft>
              <a:defRPr sz="800" b="1">
                <a:solidFill>
                  <a:srgbClr val="1E874B"/>
                </a:solidFill>
                <a:latin typeface="Calibri"/>
              </a:defRPr>
            </a:pPr>
            <a:r>
              <a:t>• [+] Soil Organic Carbon (8.4 g/kg Rich Soil):  +42 Points</a:t>
            </a:r>
          </a:p>
          <a:p>
            <a:pPr>
              <a:spcAft>
                <a:spcPts val="200"/>
              </a:spcAft>
              <a:defRPr sz="800" b="1">
                <a:solidFill>
                  <a:srgbClr val="1E874B"/>
                </a:solidFill>
                <a:latin typeface="Calibri"/>
              </a:defRPr>
            </a:pPr>
            <a:r>
              <a:t>• [+] Mandi Distance (12 km - Low Transport Friction):  +38 Points</a:t>
            </a:r>
          </a:p>
          <a:p>
            <a:pPr>
              <a:spcAft>
                <a:spcPts val="200"/>
              </a:spcAft>
              <a:defRPr sz="800" b="1">
                <a:solidFill>
                  <a:srgbClr val="FF6B6B"/>
                </a:solidFill>
                <a:latin typeface="Calibri"/>
              </a:defRPr>
            </a:pPr>
            <a:r>
              <a:t>• [-] NASA Weather Anomaly (-18% Rainfall Deficit):  -25 Points</a:t>
            </a:r>
          </a:p>
          <a:p>
            <a:pPr>
              <a:spcAft>
                <a:spcPts val="200"/>
              </a:spcAft>
              <a:defRPr sz="800" b="1">
                <a:solidFill>
                  <a:srgbClr val="1E874B"/>
                </a:solidFill>
                <a:latin typeface="Calibri"/>
              </a:defRPr>
            </a:pPr>
            <a:r>
              <a:t>• [+] Micro-Drip Irrigation (Mitigates Rain Deficit):  +30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3566160"/>
            <a:ext cx="36118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>
              <a:defRPr sz="1000">
                <a:solidFill>
                  <a:srgbClr val="17402C"/>
                </a:solidFill>
                <a:latin typeface="Arial Black"/>
              </a:defRPr>
            </a:pPr>
            <a:r>
              <a:t>FINAL SCORE: 750 / 900 (LOW RISK // TIER A)</a:t>
            </a:r>
          </a:p>
          <a:p>
            <a:pPr>
              <a:defRPr sz="780" b="1">
                <a:solidFill>
                  <a:srgbClr val="111111"/>
                </a:solidFill>
                <a:latin typeface="Calibri"/>
              </a:defRPr>
            </a:pPr>
            <a:r>
              <a:t>Decision: Auto-Approved ₹3,50,000 Tractor Loan</a:t>
            </a:r>
            <a:br/>
            <a:r>
              <a:t>Structure: Harvest-Aligned Bullet Schedule (11.5% APR)</a:t>
            </a:r>
            <a:br/>
            <a:r>
              <a:t>Turnaround: Sanction Letter Generated in &lt; 3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PRODUCT INNOVATION: HARVEST-ALIGNED REPAYMENT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92024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>
                <a:solidFill>
                  <a:srgbClr val="17402C"/>
                </a:solidFill>
                <a:latin typeface="Arial Black"/>
              </a:defRPr>
            </a:pPr>
            <a:r>
              <a:t>PHASE 1: SOWING</a:t>
            </a:r>
          </a:p>
          <a:p>
            <a:pPr>
              <a:spcAft>
                <a:spcPts val="6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t>JUN - AUG (3 MO) • Peak Outflow</a:t>
            </a:r>
            <a:br/>
            <a:r>
              <a:t>(Seeds, Fertilizers, Diesel, Labor)</a:t>
            </a:r>
          </a:p>
          <a:p>
            <a:pPr>
              <a:defRPr sz="78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74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Severe Deficit → 18.4% Default</a:t>
            </a:r>
          </a:p>
          <a:p>
            <a:pPr>
              <a:defRPr sz="78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740">
                <a:solidFill>
                  <a:srgbClr val="17402C"/>
                </a:solidFill>
                <a:latin typeface="Calibri"/>
              </a:defRPr>
            </a:pPr>
            <a:r>
              <a:t>EMI: ₹800 / mo</a:t>
            </a:r>
            <a:br/>
            <a:r>
              <a:t>Impact: Token Interest → Zero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78608" y="1051560"/>
            <a:ext cx="192024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>
                <a:solidFill>
                  <a:srgbClr val="17402C"/>
                </a:solidFill>
                <a:latin typeface="Arial Black"/>
              </a:defRPr>
            </a:pPr>
            <a:r>
              <a:t>PHASE 2: VEGETATIVE</a:t>
            </a:r>
          </a:p>
          <a:p>
            <a:pPr>
              <a:spcAft>
                <a:spcPts val="6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t>SEP (1 MO) • Maintenance Outflow</a:t>
            </a:r>
            <a:br/>
            <a:r>
              <a:t>(Pesticides &amp; Weeding Sprays)</a:t>
            </a:r>
          </a:p>
          <a:p>
            <a:pPr>
              <a:defRPr sz="78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74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Liquidity Strain → Missed EMI</a:t>
            </a:r>
          </a:p>
          <a:p>
            <a:pPr>
              <a:defRPr sz="78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740">
                <a:solidFill>
                  <a:srgbClr val="17402C"/>
                </a:solidFill>
                <a:latin typeface="Calibri"/>
              </a:defRPr>
            </a:pPr>
            <a:r>
              <a:t>EMI: ₹1,200 / mo</a:t>
            </a:r>
            <a:br/>
            <a:r>
              <a:t>Impact: Low Maintenance → Cash Intact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08576" y="1051560"/>
            <a:ext cx="192024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>
                <a:solidFill>
                  <a:srgbClr val="17402C"/>
                </a:solidFill>
                <a:latin typeface="Arial Black"/>
              </a:defRPr>
            </a:pPr>
            <a:r>
              <a:t>PHASE 3: HARVEST/MANDI</a:t>
            </a:r>
          </a:p>
          <a:p>
            <a:pPr>
              <a:spcAft>
                <a:spcPts val="6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t>OCT - NOV (2 MO) • Massive Cash Inflow</a:t>
            </a:r>
            <a:br/>
            <a:r>
              <a:t>(APMC Mandi Wholesale Crop Sale)</a:t>
            </a:r>
          </a:p>
          <a:p>
            <a:pPr>
              <a:defRPr sz="78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74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Under-collects surplus cash</a:t>
            </a:r>
          </a:p>
          <a:p>
            <a:pPr>
              <a:defRPr sz="78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740">
                <a:solidFill>
                  <a:srgbClr val="17402C"/>
                </a:solidFill>
                <a:latin typeface="Calibri"/>
              </a:defRPr>
            </a:pPr>
            <a:r>
              <a:t>EMI: ₹1,15,000 Bullet</a:t>
            </a:r>
            <a:br/>
            <a:r>
              <a:t>Impact: Syncs with ₹2.5L+ Mandi Sale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38544" y="1051560"/>
            <a:ext cx="192024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900">
                <a:solidFill>
                  <a:srgbClr val="17402C"/>
                </a:solidFill>
                <a:latin typeface="Arial Black"/>
              </a:defRPr>
            </a:pPr>
            <a:r>
              <a:t>PHASE 4: OFF-SEASON</a:t>
            </a:r>
          </a:p>
          <a:p>
            <a:pPr>
              <a:spcAft>
                <a:spcPts val="600"/>
              </a:spcAft>
              <a:defRPr sz="750">
                <a:solidFill>
                  <a:srgbClr val="555555"/>
                </a:solidFill>
                <a:latin typeface="Calibri"/>
              </a:defRPr>
            </a:pPr>
            <a:r>
              <a:t>DEC - MAY (6 MO) • Stabilized Flow</a:t>
            </a:r>
            <a:br/>
            <a:r>
              <a:t>(Rabi winter crops &amp; dairy income)</a:t>
            </a:r>
          </a:p>
          <a:p>
            <a:pPr>
              <a:defRPr sz="780">
                <a:solidFill>
                  <a:srgbClr val="FF6B6B"/>
                </a:solidFill>
                <a:latin typeface="Arial Black"/>
              </a:defRPr>
            </a:pPr>
            <a:r>
              <a:t>❌ TRADITIONAL FLAT:</a:t>
            </a:r>
          </a:p>
          <a:p>
            <a:pPr>
              <a:spcAft>
                <a:spcPts val="800"/>
              </a:spcAft>
              <a:defRPr sz="740">
                <a:solidFill>
                  <a:srgbClr val="111111"/>
                </a:solidFill>
                <a:latin typeface="Calibri"/>
              </a:defRPr>
            </a:pPr>
            <a:r>
              <a:t>EMI: ₹12,500 / mo</a:t>
            </a:r>
            <a:br/>
            <a:r>
              <a:t>Impact: Rigid burden on winter sowing</a:t>
            </a:r>
          </a:p>
          <a:p>
            <a:pPr>
              <a:defRPr sz="780">
                <a:solidFill>
                  <a:srgbClr val="1E874B"/>
                </a:solidFill>
                <a:latin typeface="Arial Black"/>
              </a:defRPr>
            </a:pPr>
            <a:r>
              <a:t>✅ TVS HARVEST-ALIGNED:</a:t>
            </a:r>
          </a:p>
          <a:p>
            <a:pPr>
              <a:defRPr sz="740">
                <a:solidFill>
                  <a:srgbClr val="17402C"/>
                </a:solidFill>
                <a:latin typeface="Calibri"/>
              </a:defRPr>
            </a:pPr>
            <a:r>
              <a:t>EMI: ₹1,000 / mo</a:t>
            </a:r>
            <a:br/>
            <a:r>
              <a:t>Impact: Buffer cushion for Rabi season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GRAND FINALE // PROBLEM STATEMENT (C)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CONVERSATIONAL GENAI: TVS SAHAYAK &amp; RURAL UI/UX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88620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1000">
                <a:solidFill>
                  <a:srgbClr val="00609C"/>
                </a:solidFill>
                <a:latin typeface="Arial Black"/>
              </a:defRPr>
            </a:pPr>
            <a:r>
              <a:t>TVS SAHAYAK // GOOGLE GEMINI COPILOT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Powered by Google Gemini 2.5 Flash: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Connects via server-side proxy (/api/assistant) with auto-fallback to Gemini 1.5 Flash. Fast, low-latency rural dialogue.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Pre-Prompted Domain Grounding: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System instruction explicitly trained on TVS Credit Kisan Loan Hub products, Sentinel-2 NDVI spectral rules, and RBI KFS guidelines.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Multilingual Audio &amp; Text (Hindi/English):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Web Speech API Speech-to-Text allows farmers to speak naturally; Text-to-Speech audio read-out empowers low-literacy borrowers.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Multi-Turn Conversation Memory: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Remembers previous applicant queries, translates complex APR &amp; SHAP terms into farming analogies, and provides toll-free 1800-425-4500 escalation.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51560"/>
            <a:ext cx="3886200" cy="3749039"/>
          </a:xfrm>
          <a:prstGeom prst="rect">
            <a:avLst/>
          </a:prstGeom>
          <a:solidFill>
            <a:srgbClr val="FFFAE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1000">
                <a:solidFill>
                  <a:srgbClr val="D97706"/>
                </a:solidFill>
                <a:latin typeface="Arial Black"/>
              </a:defRPr>
            </a:pPr>
            <a:r>
              <a:t>UI/UX DIFFERENTIATION FOR RURAL BHARAT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Pulse 2026 Neo-Brutalism: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3px solid black borders, flat hard shadows, and high-contrast canary yellow/coral accents engineered for high visibility under harsh direct sunlight.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Zero-Connectivity Offline PWA: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Built with Serwist Turbopack service worker precaching 48 assets. IndexedDB (idb-keyval) stores boundary drafts offline and syncs on reconnect.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Low-Data Mode Bandwidth Saver: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One-tap toggle disables heavy satellite map tiles and renders lightweight vectors, saving 85% of mobile data for rural users.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Web Push Notifications (VAPID):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Zero-cost browser push alerts remind farmers 7 days prior to harvest EMIs and notify approval without expensive SMS gateway overheads.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ANNEXURE 01 // CODING STANDARDS &amp; WALK-THROUGH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ANNEXURE 1: CODE ARCHITECTURE, SCHEMAS &amp;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01000" cy="1143000"/>
          </a:xfrm>
          <a:prstGeom prst="rect">
            <a:avLst/>
          </a:prstGeom>
          <a:solidFill>
            <a:srgbClr val="F0F6FA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00609C"/>
                </a:solidFill>
                <a:latin typeface="Arial Black"/>
              </a:defRPr>
            </a:pPr>
            <a:r>
              <a:t>NEXT.JS 16 &amp; POSTGIS SCHEMA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Next.js 16.3 App Router with strict Server/Client component boundaries.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PostGIS geometry schema: plots.geom geometry(Polygon,4326) with ST_Area and ST_Distance spatial indexes.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Drizzle ORM dual-mode: production connection pooling with in-memory fallback for offline zero-downtime execution.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8001000" cy="1143000"/>
          </a:xfrm>
          <a:prstGeom prst="rect">
            <a:avLst/>
          </a:prstGeom>
          <a:solidFill>
            <a:srgbClr val="EF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1E874B"/>
                </a:solidFill>
                <a:latin typeface="Arial Black"/>
              </a:defRPr>
            </a:pPr>
            <a:r>
              <a:t>SECURITY, RATE LIMITING &amp; ENCRYPTION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Zod contract validation across all 15 API routes, preventing injection attacks.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Sliding-window rate limiter in proxy.ts (30 req/min for Gemini AI, 5 OTPs/10min).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Hardware AES-256-GCM encryption for all sensitive PII (Aadhaar, phones, survey numbers).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4-Tier RBAC: farmer, field_officer, credit_officer, and admin roles strictly 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8001000" cy="1143000"/>
          </a:xfrm>
          <a:prstGeom prst="rect">
            <a:avLst/>
          </a:prstGeom>
          <a:solidFill>
            <a:srgbClr val="FFFAE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D97706"/>
                </a:solidFill>
                <a:latin typeface="Arial Black"/>
              </a:defRPr>
            </a:pPr>
            <a:r>
              <a:t>TESTING RIGOR &amp; CI/CD PIPELINE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Vitest test suite validating loan amortization, APR math, and KFS schedules.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Pytest test suite validating FastAPI satellite feature extraction &amp; SHAP attribution.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Playwright E2E browser tests automating complete farmer apply-to-decision journeys.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• GitHub Actions CI pipeline executing type-checking, linting, and automated builds on every commit.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ANNEXURE 02 // REGULATORY GOVERNANCE &amp; PRIVACY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ANNEXURE 2: RBI DIGITAL LENDING &amp; DPDP ACT 2023 SOVEREIGNTY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886200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950">
                <a:solidFill>
                  <a:srgbClr val="17402C"/>
                </a:solidFill>
                <a:latin typeface="Arial Black"/>
              </a:defRPr>
            </a:pPr>
            <a:r>
              <a:t>RESERVE BANK OF INDIA (RBI) DIGITAL LENDING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Statutory Key Fact Statement (KFS):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Mandatory transparent statement generated upfront before loan execution (/kfs/[id]), detailing APR, 1.5% processing fee, 18% GST, stamp duty, and net disbursed cash.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Mandatory 3-Day Cooling-Off Period: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Borrowers can exit the loan contract within 72 hours of disbursal without any prepayment penalty by returning principal plus proportionate daily interest.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100% Direct Account Disbursal: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Loan proceeds are transferred strictly into the borrower's verified bank account; zero third-party pass-through wallets or prepaid cards permitted.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▸ Statutory Grievance Redressal: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Direct in-app escalation pathways to the TVS Credit Grievance Redressal Officer and RBI Integrated Ombudsman.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51560"/>
            <a:ext cx="3886200" cy="3749039"/>
          </a:xfrm>
          <a:prstGeom prst="rect">
            <a:avLst/>
          </a:prstGeom>
          <a:solidFill>
            <a:srgbClr val="EFF8F2"/>
          </a:solidFill>
          <a:ln w="19050">
            <a:solidFill>
              <a:srgbClr val="1E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600"/>
              </a:spcAft>
              <a:defRPr sz="950">
                <a:solidFill>
                  <a:srgbClr val="1E874B"/>
                </a:solidFill>
                <a:latin typeface="Arial Black"/>
              </a:defRPr>
            </a:pPr>
            <a:r>
              <a:t>DIGITAL PERSONAL DATA PROTECTION (DPDP) ACT 2023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Consent Management Portal (/consent):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Farmers inspect all individual consents granted (eKYC, satellite telemetry, mandi financial analysis) with granular one-tap withdrawal capability.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Section 12 Right to Erasure: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Permanent data scrubbing button allowing borrowers to permanently delete field boundaries, OCR documents, and contact records from TVS systems.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Purpose-Bound Data Retention: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Satellite plot telemetry retained only for the duration of the loan cycle plus one harvest season, in strict compliance with DPDP rules.</a:t>
            </a:r>
          </a:p>
          <a:p>
            <a:pPr>
              <a:defRPr sz="819" b="1">
                <a:solidFill>
                  <a:srgbClr val="111111"/>
                </a:solidFill>
                <a:latin typeface="Calibri"/>
              </a:defRPr>
            </a:pPr>
            <a:r>
              <a:t>★ Immutable Audit Trail (/api/audit):</a:t>
            </a:r>
          </a:p>
          <a:p>
            <a:pPr>
              <a:spcAft>
                <a:spcPts val="200"/>
              </a:spcAft>
              <a:defRPr sz="760">
                <a:solidFill>
                  <a:srgbClr val="555555"/>
                </a:solidFill>
                <a:latin typeface="Calibri"/>
              </a:defRPr>
            </a:pPr>
            <a:r>
              <a:t>  Every staff view, credit committee decision, and consent modification logged with client IP, timestamp, and SHA-256 tamper-evident hashing.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0609C"/>
                </a:solidFill>
                <a:latin typeface="Calibri"/>
              </a:defRPr>
            </a:pPr>
            <a:r>
              <a:t>TVS CREDIT E.P.I.C 8.0 // ANNEXURE 03 // PORTFOLIO SURVEILLANCE &amp; HORIZONS</a:t>
            </a:r>
          </a:p>
          <a:p>
            <a:pPr>
              <a:defRPr sz="1450" b="1">
                <a:solidFill>
                  <a:srgbClr val="17402C"/>
                </a:solidFill>
                <a:latin typeface="Arial Black"/>
              </a:defRPr>
            </a:pPr>
            <a:r>
              <a:t>ANNEXURE 3: EARLY WARNING RADAR, SCALING &amp; GREEN FINANCING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01000" cy="1143000"/>
          </a:xfrm>
          <a:prstGeom prst="rect">
            <a:avLst/>
          </a:prstGeom>
          <a:solidFill>
            <a:srgbClr val="FDEEE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FF6B6B"/>
                </a:solidFill>
                <a:latin typeface="Arial Black"/>
              </a:defRPr>
            </a:pPr>
            <a:r>
              <a:t>PHASE 8: PORTFOLIO RISK RADAR &amp; AUTOMATED SURVEILLANCE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Daily Upstash QStash crons continuously inspect Sentinel-2 NDVI across all active loan parcels.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Triggers alerts if vegetation vigor drops &gt;15% (pest/disease) or NASA weather anomaly exceeds -30% (drought).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Proactive credit mitigation: automated vernacular SMS advisory, 60-day EMI moratorium offer, and geo-tagged field officer dispatch.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8001000" cy="1143000"/>
          </a:xfrm>
          <a:prstGeom prst="rect">
            <a:avLst/>
          </a:prstGeom>
          <a:solidFill>
            <a:srgbClr val="F0F6FA"/>
          </a:solidFill>
          <a:ln w="19050">
            <a:solidFill>
              <a:srgbClr val="006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00609C"/>
                </a:solidFill>
                <a:latin typeface="Arial Black"/>
              </a:defRPr>
            </a:pPr>
            <a:r>
              <a:t>PHASE 9: ENTERPRISE CLOUD HARDENING &amp; REDIS CACHING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Upstash Redis distributed caching: 24h satellite NDVI cache &amp; 3h weather forecast cache ensuring &lt;100ms response times.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Multi-region deployment: Next.js edge runtime on Vercel Mumbai (bom1) and FastAPI geo-ml microservice on Railway/Render.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Sentry APM distributed tracing and structured JSON error logging for bank-grade reliability.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8001000" cy="1143000"/>
          </a:xfrm>
          <a:prstGeom prst="rect">
            <a:avLst/>
          </a:prstGeom>
          <a:solidFill>
            <a:srgbClr val="EFF8F2"/>
          </a:solidFill>
          <a:ln w="19050">
            <a:solidFill>
              <a:srgbClr val="174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spcAft>
                <a:spcPts val="200"/>
              </a:spcAft>
              <a:defRPr sz="950">
                <a:solidFill>
                  <a:srgbClr val="17402C"/>
                </a:solidFill>
                <a:latin typeface="Arial Black"/>
              </a:defRPr>
            </a:pPr>
            <a:r>
              <a:t>PHASE 10: INDIA DIGITAL AGRI-STACK &amp; ESG GREEN FINANCING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Direct integration with Government of India AgriStack &amp; Farmer Registry API for instant digital land ownership validation.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Account Aggregator (AA) integration (Sahamati) to verify non-farm dairy and allied rural cashflows.</a:t>
            </a:r>
          </a:p>
          <a:p>
            <a:pPr>
              <a:spcAft>
                <a:spcPts val="100"/>
              </a:spcAft>
              <a:defRPr sz="800">
                <a:solidFill>
                  <a:srgbClr val="111111"/>
                </a:solidFill>
                <a:latin typeface="Calibri"/>
              </a:defRPr>
            </a:pPr>
            <a:r>
              <a:t>★ Green Agri-Credit: Satellite biomass tracking unlocks 50 bps interest rate rebates for farmers adopting drip irrigation and solar water pumps (PM-KUSUM).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