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804672"/>
            <a:ext cx="210312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31520"/>
            <a:ext cx="2103120" cy="457200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Arial Black"/>
              </a:defRPr>
            </a:pPr>
            <a:r>
              <a:t>✦ 2026 EDITION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182112" y="804672"/>
            <a:ext cx="292608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0" y="731520"/>
            <a:ext cx="2926080" cy="457200"/>
          </a:xfrm>
          <a:prstGeom prst="rect">
            <a:avLst/>
          </a:prstGeom>
          <a:solidFill>
            <a:srgbClr val="FFD152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Arial Black"/>
              </a:defRPr>
            </a:pPr>
            <a:r>
              <a:t>EPIC 8 IT CASE STUDY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91072" y="804672"/>
            <a:ext cx="237744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731520"/>
            <a:ext cx="2377440" cy="4572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Arial Black"/>
              </a:defRPr>
            </a:pPr>
            <a:r>
              <a:t>● AI ENGINE LIVE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1536192"/>
            <a:ext cx="10515600" cy="3840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463040"/>
            <a:ext cx="10515600" cy="38404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4600" b="1">
                <a:solidFill>
                  <a:srgbClr val="FF6B6B"/>
                </a:solidFill>
                <a:latin typeface="Arial Black"/>
              </a:defRPr>
            </a:pPr>
            <a:r>
              <a:t>TVS CREDIT</a:t>
            </a:r>
          </a:p>
          <a:p>
            <a:pPr algn="l">
              <a:defRPr sz="4000" b="1">
                <a:solidFill>
                  <a:srgbClr val="000000"/>
                </a:solidFill>
                <a:latin typeface="Arial Black"/>
              </a:defRPr>
            </a:pPr>
            <a:r>
              <a:t>SMART LENDING DECISION HUB</a:t>
            </a:r>
          </a:p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Revolutionising Rural Bharat Lending with Geospatial AI, Satellite Telemetry &amp; Harvest-Aligned EMIs</a:t>
            </a:r>
          </a:p>
          <a:p>
            <a:pPr algn="l">
              <a:defRPr sz="1300" b="1">
                <a:solidFill>
                  <a:srgbClr val="000000"/>
                </a:solidFill>
                <a:latin typeface="Consolas"/>
              </a:defRPr>
            </a:pPr>
            <a:r>
              <a:t>  🛰️ Sentinel-2 10m Optical Vegetation Scoring (NDVI)</a:t>
            </a:r>
          </a:p>
          <a:p>
            <a:pPr algn="l">
              <a:defRPr sz="1300" b="1">
                <a:solidFill>
                  <a:srgbClr val="000000"/>
                </a:solidFill>
                <a:latin typeface="Consolas"/>
              </a:defRPr>
            </a:pPr>
            <a:r>
              <a:t>  📊 Explainable AI Underwriting (SHAP Decision Drivers)</a:t>
            </a:r>
          </a:p>
          <a:p>
            <a:pPr algn="l">
              <a:defRPr sz="1300" b="1">
                <a:solidFill>
                  <a:srgbClr val="000000"/>
                </a:solidFill>
                <a:latin typeface="Consolas"/>
              </a:defRPr>
            </a:pPr>
            <a:r>
              <a:t>  🌾 Dynamic Cash-Flow Aligned Harvest Repayments</a:t>
            </a:r>
          </a:p>
          <a:p>
            <a:pPr algn="l">
              <a:defRPr sz="1300" b="1">
                <a:solidFill>
                  <a:srgbClr val="000000"/>
                </a:solidFill>
                <a:latin typeface="Consolas"/>
              </a:defRPr>
            </a:pPr>
            <a:r>
              <a:t>  🚨 Real-Time Anomaly &amp; Early Warning Radar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 Black"/>
              </a:defRPr>
            </a:pPr>
            <a:r>
              <a:t>★ 26M+ CUSTOMERS SERVED  ★  AA+ CRISIL RATING  ★  &lt;3 MIN SANCTION TIME  ★  90% FINANCE COVERAGE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" y="256032"/>
            <a:ext cx="201168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"/>
            <a:ext cx="2011680" cy="640080"/>
          </a:xfrm>
          <a:prstGeom prst="rect">
            <a:avLst/>
          </a:prstGeom>
          <a:solidFill>
            <a:srgbClr val="FFD152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  <a:latin typeface="Arial Black"/>
              </a:defRPr>
            </a:pPr>
            <a:r>
              <a:t>TVS CREDIT'26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3716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 Black"/>
              </a:defRPr>
            </a:pPr>
            <a:r>
              <a:t>THE RURAL CREDIT PARADOX &amp; CHALLENGES</a:t>
            </a:r>
          </a:p>
          <a:p>
            <a:pPr algn="l">
              <a:defRPr sz="1000" b="0">
                <a:solidFill>
                  <a:srgbClr val="666666"/>
                </a:solidFill>
                <a:latin typeface="Consolas"/>
              </a:defRPr>
            </a:pPr>
            <a:r>
              <a:t>PROBLEM STATEMENT // TIER 3 &amp; 4 UNDERWRITING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9948672" y="301752"/>
            <a:ext cx="164592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75520" y="228600"/>
            <a:ext cx="1645920" cy="502920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Arial Black"/>
              </a:defRPr>
            </a:pPr>
            <a:r>
              <a:t>AI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1627632"/>
            <a:ext cx="2560320" cy="4480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2560320" cy="4480560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000000"/>
                </a:solidFill>
                <a:latin typeface="Arial Black"/>
              </a:defRPr>
            </a:pPr>
            <a:r>
              <a:t>01</a:t>
            </a:r>
          </a:p>
          <a:p>
            <a:pPr algn="l">
              <a:defRPr sz="1600" b="1">
                <a:solidFill>
                  <a:srgbClr val="000000"/>
                </a:solidFill>
                <a:latin typeface="Arial Black"/>
              </a:defRPr>
            </a:pPr>
            <a:r>
              <a:t>NO CIBIL TRACK RECORD</a:t>
            </a:r>
          </a:p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80%+ of smallholder farmers operate in a cash economy with zero formal banking records. Traditional credit bureaus systematically exclude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2152" y="1627632"/>
            <a:ext cx="2560320" cy="4480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554480"/>
            <a:ext cx="2560320" cy="4480560"/>
          </a:xfrm>
          <a:prstGeom prst="rect">
            <a:avLst/>
          </a:prstGeom>
          <a:solidFill>
            <a:srgbClr val="FFD152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000000"/>
                </a:solidFill>
                <a:latin typeface="Arial Black"/>
              </a:defRPr>
            </a:pPr>
            <a:r>
              <a:t>02</a:t>
            </a:r>
          </a:p>
          <a:p>
            <a:pPr algn="l">
              <a:defRPr sz="1600" b="1">
                <a:solidFill>
                  <a:srgbClr val="000000"/>
                </a:solidFill>
                <a:latin typeface="Arial Black"/>
              </a:defRPr>
            </a:pPr>
            <a:r>
              <a:t>MANUAL LAND AUDITS</a:t>
            </a:r>
          </a:p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Physical land inspections take 14-21 days, require manual field officers, cost ~₹3,500/visit, and remain highly susceptible to fraud and boundary disputes.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627632"/>
            <a:ext cx="2560320" cy="4480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554480"/>
            <a:ext cx="2560320" cy="4480560"/>
          </a:xfrm>
          <a:prstGeom prst="rect">
            <a:avLst/>
          </a:prstGeom>
          <a:solidFill>
            <a:srgbClr val="B8A9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000000"/>
                </a:solidFill>
                <a:latin typeface="Arial Black"/>
              </a:defRPr>
            </a:pPr>
            <a:r>
              <a:t>03</a:t>
            </a:r>
          </a:p>
          <a:p>
            <a:pPr algn="l">
              <a:defRPr sz="1600" b="1">
                <a:solidFill>
                  <a:srgbClr val="000000"/>
                </a:solidFill>
                <a:latin typeface="Arial Black"/>
              </a:defRPr>
            </a:pPr>
            <a:r>
              <a:t>RIGID MONTHLY EMIs</a:t>
            </a:r>
          </a:p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Fixed monthly installments force default during sowing seasons when farmer liquidity is zero, leading to artificial defaults despite healthy crops.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7112" y="1627632"/>
            <a:ext cx="2560320" cy="4480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23960" y="1554480"/>
            <a:ext cx="2560320" cy="44805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000000"/>
                </a:solidFill>
                <a:latin typeface="Arial Black"/>
              </a:defRPr>
            </a:pPr>
            <a:r>
              <a:t>04</a:t>
            </a:r>
          </a:p>
          <a:p>
            <a:pPr algn="l">
              <a:defRPr sz="1600" b="1">
                <a:solidFill>
                  <a:srgbClr val="000000"/>
                </a:solidFill>
                <a:latin typeface="Arial Black"/>
              </a:defRPr>
            </a:pPr>
            <a:r>
              <a:t>CLIMATE &amp; MARKET SHOCKS</a:t>
            </a:r>
          </a:p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Droughts, unseasonal rains, and sudden Mandi price crashes trigger regional default cascades without warning for financial institutions.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" y="256032"/>
            <a:ext cx="201168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"/>
            <a:ext cx="2011680" cy="640080"/>
          </a:xfrm>
          <a:prstGeom prst="rect">
            <a:avLst/>
          </a:prstGeom>
          <a:solidFill>
            <a:srgbClr val="FFD152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  <a:latin typeface="Arial Black"/>
              </a:defRPr>
            </a:pPr>
            <a:r>
              <a:t>TVS CREDIT'26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3716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 Black"/>
              </a:defRPr>
            </a:pPr>
            <a:r>
              <a:t>THE AI-POWERED SMART LENDING ARCHITECTURE</a:t>
            </a:r>
          </a:p>
          <a:p>
            <a:pPr algn="l">
              <a:defRPr sz="1000" b="0">
                <a:solidFill>
                  <a:srgbClr val="666666"/>
                </a:solidFill>
                <a:latin typeface="Consolas"/>
              </a:defRPr>
            </a:pPr>
            <a:r>
              <a:t>FULL-STACK TECHNICAL WORKFLOW // FIELD TO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9948672" y="301752"/>
            <a:ext cx="164592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75520" y="228600"/>
            <a:ext cx="1645920" cy="502920"/>
          </a:xfrm>
          <a:prstGeom prst="rect">
            <a:avLst/>
          </a:prstGeom>
          <a:solidFill>
            <a:srgbClr val="FFD152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Arial Black"/>
              </a:defRPr>
            </a:pPr>
            <a:r>
              <a:t>AI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1444752"/>
            <a:ext cx="1069848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10698480" cy="8686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000000"/>
                </a:solidFill>
                <a:latin typeface="Arial Black"/>
              </a:defRPr>
            </a:pPr>
            <a:r>
              <a:t>1. SATELLITE CADASTRE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European Space Agency Sentinel-2 10m bands 4 &amp; 8 provide automated parcel boundary verification and multi-season NDVI health.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2450592"/>
            <a:ext cx="1069848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377440"/>
            <a:ext cx="10698480" cy="868680"/>
          </a:xfrm>
          <a:prstGeom prst="rect">
            <a:avLst/>
          </a:prstGeom>
          <a:solidFill>
            <a:srgbClr val="FFD152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000000"/>
                </a:solidFill>
                <a:latin typeface="Arial Black"/>
              </a:defRPr>
            </a:pPr>
            <a:r>
              <a:t>2. AGROMET ENGINES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30-year IMD weather anomaly tracking, rainfall deficits, and irrigation accessibility scoring to predict yield resilience.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3456432"/>
            <a:ext cx="1069848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383280"/>
            <a:ext cx="10698480" cy="868680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000000"/>
                </a:solidFill>
                <a:latin typeface="Arial Black"/>
              </a:defRPr>
            </a:pPr>
            <a:r>
              <a:t>3. EXPLAINABLE AI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Gradient-boosted decision trees with SHAP transparency score applicants instantly (&lt; 3 mins), eliminating CIBIL dependencies.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" y="4462272"/>
            <a:ext cx="1069848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389120"/>
            <a:ext cx="10698480" cy="868680"/>
          </a:xfrm>
          <a:prstGeom prst="rect">
            <a:avLst/>
          </a:prstGeom>
          <a:solidFill>
            <a:srgbClr val="B8A9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000000"/>
                </a:solidFill>
                <a:latin typeface="Arial Black"/>
              </a:defRPr>
            </a:pPr>
            <a:r>
              <a:t>4. HARVEST EMIs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Dynamic non-linear cash flow matching: token ₹800 EMIs during sowing, balloon payments post-mandi harvest sale.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" y="5468112"/>
            <a:ext cx="1069848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394960"/>
            <a:ext cx="10698480" cy="8686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000000"/>
                </a:solidFill>
                <a:latin typeface="Arial Black"/>
              </a:defRPr>
            </a:pPr>
            <a:r>
              <a:t>5. EARLY WARNING RADAR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Real-time automated district-level surveillance for weather stress and mandi price crash mitigation.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" y="256032"/>
            <a:ext cx="201168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"/>
            <a:ext cx="2011680" cy="640080"/>
          </a:xfrm>
          <a:prstGeom prst="rect">
            <a:avLst/>
          </a:prstGeom>
          <a:solidFill>
            <a:srgbClr val="FFD152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  <a:latin typeface="Arial Black"/>
              </a:defRPr>
            </a:pPr>
            <a:r>
              <a:t>TVS CREDIT'26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3716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 Black"/>
              </a:defRPr>
            </a:pPr>
            <a:r>
              <a:t>GEOSPATIAL SATELLITE CROP INTELLIGENCE</a:t>
            </a:r>
          </a:p>
          <a:p>
            <a:pPr algn="l">
              <a:defRPr sz="1000" b="0">
                <a:solidFill>
                  <a:srgbClr val="666666"/>
                </a:solidFill>
                <a:latin typeface="Consolas"/>
              </a:defRPr>
            </a:pPr>
            <a:r>
              <a:t>SENTINEL-2 MULTISPECTRAL IMAGERY &amp; CADASTRAL LOOKUP</a:t>
            </a:r>
          </a:p>
        </p:txBody>
      </p:sp>
      <p:sp>
        <p:nvSpPr>
          <p:cNvPr id="6" name="Rectangle 5"/>
          <p:cNvSpPr/>
          <p:nvPr/>
        </p:nvSpPr>
        <p:spPr>
          <a:xfrm>
            <a:off x="9948672" y="301752"/>
            <a:ext cx="164592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75520" y="228600"/>
            <a:ext cx="1645920" cy="502920"/>
          </a:xfrm>
          <a:prstGeom prst="rect">
            <a:avLst/>
          </a:prstGeom>
          <a:solidFill>
            <a:srgbClr val="2ED573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Arial Black"/>
              </a:defRPr>
            </a:pPr>
            <a:r>
              <a:t>AI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1536192"/>
            <a:ext cx="5120640" cy="4663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5120640" cy="466344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000000"/>
                </a:solidFill>
                <a:latin typeface="Arial Black"/>
              </a:defRPr>
            </a:pPr>
            <a:r>
              <a:t>SPECTRAL VEGETATION SCORING</a:t>
            </a:r>
          </a:p>
          <a:p>
            <a:pPr algn="l">
              <a:defRPr sz="1200" b="1">
                <a:solidFill>
                  <a:srgbClr val="000000"/>
                </a:solidFill>
                <a:latin typeface="Arial Black"/>
              </a:defRPr>
            </a:pPr>
            <a:r>
              <a:t>• 10-Meter Optical Resolution:</a:t>
            </a:r>
          </a:p>
          <a:p>
            <a:pPr algn="l">
              <a:defRPr sz="1100" b="0">
                <a:solidFill>
                  <a:srgbClr val="444444"/>
                </a:solidFill>
                <a:latin typeface="Calibri"/>
              </a:defRPr>
            </a:pPr>
            <a:r>
              <a:t>  Captures farm-level NIR (Near-Infrared) and Red bands every 5 days via Sentinel-2 constellation.</a:t>
            </a:r>
          </a:p>
          <a:p>
            <a:pPr algn="l">
              <a:defRPr sz="1200" b="1">
                <a:solidFill>
                  <a:srgbClr val="000000"/>
                </a:solidFill>
                <a:latin typeface="Arial Black"/>
              </a:defRPr>
            </a:pPr>
            <a:r>
              <a:t>• NDVI Index Formula:</a:t>
            </a:r>
          </a:p>
          <a:p>
            <a:pPr algn="l">
              <a:defRPr sz="1100" b="0">
                <a:solidFill>
                  <a:srgbClr val="444444"/>
                </a:solidFill>
                <a:latin typeface="Calibri"/>
              </a:defRPr>
            </a:pPr>
            <a:r>
              <a:t>  NDVI = (NIR - RED) / (NIR + RED). Range 0.0 to 1.0 indicates chlorophyll density and plant vigor.</a:t>
            </a:r>
          </a:p>
          <a:p>
            <a:pPr algn="l">
              <a:defRPr sz="1200" b="1">
                <a:solidFill>
                  <a:srgbClr val="000000"/>
                </a:solidFill>
                <a:latin typeface="Arial Black"/>
              </a:defRPr>
            </a:pPr>
            <a:r>
              <a:t>• Historical Temporal Curve:</a:t>
            </a:r>
          </a:p>
          <a:p>
            <a:pPr algn="l">
              <a:defRPr sz="1100" b="0">
                <a:solidFill>
                  <a:srgbClr val="444444"/>
                </a:solidFill>
                <a:latin typeface="Calibri"/>
              </a:defRPr>
            </a:pPr>
            <a:r>
              <a:t>  Compares current crop health trajectory against 24-month baseline to detect drought or stunted growth.</a:t>
            </a:r>
          </a:p>
          <a:p>
            <a:pPr algn="l">
              <a:defRPr sz="1200" b="1">
                <a:solidFill>
                  <a:srgbClr val="000000"/>
                </a:solidFill>
                <a:latin typeface="Arial Black"/>
              </a:defRPr>
            </a:pPr>
            <a:r>
              <a:t>• Boundary Fraud Detection:</a:t>
            </a:r>
          </a:p>
          <a:p>
            <a:pPr algn="l">
              <a:defRPr sz="1100" b="0">
                <a:solidFill>
                  <a:srgbClr val="444444"/>
                </a:solidFill>
                <a:latin typeface="Calibri"/>
              </a:defRPr>
            </a:pPr>
            <a:r>
              <a:t>  GPS cadastral polygons ensure claimed land matches actual cultivable acreage without disputes.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1536192"/>
            <a:ext cx="5212080" cy="4663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212080" cy="4663440"/>
          </a:xfrm>
          <a:prstGeom prst="rect">
            <a:avLst/>
          </a:prstGeom>
          <a:solidFill>
            <a:srgbClr val="FFD152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000000"/>
                </a:solidFill>
                <a:latin typeface="Arial Black"/>
              </a:defRPr>
            </a:pPr>
            <a:r>
              <a:t>NDVI UNDERWRITING THRESHOLDS</a:t>
            </a:r>
          </a:p>
          <a:p>
            <a:pPr algn="l">
              <a:defRPr sz="1200" b="1">
                <a:solidFill>
                  <a:srgbClr val="000000"/>
                </a:solidFill>
                <a:latin typeface="Arial Black"/>
              </a:defRPr>
            </a:pPr>
            <a:r>
              <a:t>■ NDVI &gt; 0.65 (Dense Biomass)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  High Yield Probability → Approved: Max 90% LTV, Lowest Interest Rate (11.5%)</a:t>
            </a:r>
          </a:p>
          <a:p>
            <a:pPr algn="l">
              <a:defRPr sz="1200" b="1">
                <a:solidFill>
                  <a:srgbClr val="000000"/>
                </a:solidFill>
                <a:latin typeface="Arial Black"/>
              </a:defRPr>
            </a:pPr>
            <a:r>
              <a:t>■ NDVI 0.40 - 0.65 (Moderate)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  Normal Health → Approved: Standard 80% LTV, Market Rate (12.2%)</a:t>
            </a:r>
          </a:p>
          <a:p>
            <a:pPr algn="l">
              <a:defRPr sz="1200" b="1">
                <a:solidFill>
                  <a:srgbClr val="000000"/>
                </a:solidFill>
                <a:latin typeface="Arial Black"/>
              </a:defRPr>
            </a:pPr>
            <a:r>
              <a:t>■ NDVI 0.20 - 0.40 (Sparse)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  Vegetative Stress → Conditional: Requires Co-applicant or Drip Irrigation verification</a:t>
            </a:r>
          </a:p>
          <a:p>
            <a:pPr algn="l">
              <a:defRPr sz="1200" b="1">
                <a:solidFill>
                  <a:srgbClr val="000000"/>
                </a:solidFill>
                <a:latin typeface="Arial Black"/>
              </a:defRPr>
            </a:pPr>
            <a:r>
              <a:t>■ NDVI &lt; 0.20 (Barren/Fallow)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  Drought / Failed Sowing → Declined / Referred for Emergency Distress Relief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" y="256032"/>
            <a:ext cx="201168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"/>
            <a:ext cx="2011680" cy="640080"/>
          </a:xfrm>
          <a:prstGeom prst="rect">
            <a:avLst/>
          </a:prstGeom>
          <a:solidFill>
            <a:srgbClr val="FFD152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  <a:latin typeface="Arial Black"/>
              </a:defRPr>
            </a:pPr>
            <a:r>
              <a:t>TVS CREDIT'26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3716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 Black"/>
              </a:defRPr>
            </a:pPr>
            <a:r>
              <a:t>EXPLAINABLE AI CREDIT SCORING &amp; SHAP ENGINE</a:t>
            </a:r>
          </a:p>
          <a:p>
            <a:pPr algn="l">
              <a:defRPr sz="1000" b="0">
                <a:solidFill>
                  <a:srgbClr val="666666"/>
                </a:solidFill>
                <a:latin typeface="Consolas"/>
              </a:defRPr>
            </a:pPr>
            <a:r>
              <a:t>TRANSPARENT, COMPLIANT, ZERO-BIAS UNDERWRITING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948672" y="301752"/>
            <a:ext cx="164592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75520" y="228600"/>
            <a:ext cx="1645920" cy="502920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Arial Black"/>
              </a:defRPr>
            </a:pPr>
            <a:r>
              <a:t>AI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1536192"/>
            <a:ext cx="5120640" cy="2103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5120640" cy="2103120"/>
          </a:xfrm>
          <a:prstGeom prst="rect">
            <a:avLst/>
          </a:prstGeom>
          <a:solidFill>
            <a:srgbClr val="2ED573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000000"/>
                </a:solidFill>
                <a:latin typeface="Arial Black"/>
              </a:defRPr>
            </a:pPr>
            <a:r>
              <a:t>CROP CANOPY VIGOR (NDVI)</a:t>
            </a:r>
          </a:p>
          <a:p>
            <a:pPr algn="l">
              <a:defRPr sz="1300" b="1">
                <a:solidFill>
                  <a:srgbClr val="005500"/>
                </a:solidFill>
                <a:latin typeface="Arial Black"/>
              </a:defRPr>
            </a:pPr>
            <a:r>
              <a:t>+35% WEIGHT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Live chlorophyll spectral density confirming active cultivation and strong expected biomass harvest yields.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536192"/>
            <a:ext cx="5120640" cy="2103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463040"/>
            <a:ext cx="5120640" cy="2103120"/>
          </a:xfrm>
          <a:prstGeom prst="rect">
            <a:avLst/>
          </a:prstGeom>
          <a:solidFill>
            <a:srgbClr val="FFD152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000000"/>
                </a:solidFill>
                <a:latin typeface="Arial Black"/>
              </a:defRPr>
            </a:pPr>
            <a:r>
              <a:t>PRECIPITATION ANOMALY</a:t>
            </a:r>
          </a:p>
          <a:p>
            <a:pPr algn="l">
              <a:defRPr sz="1300" b="1">
                <a:solidFill>
                  <a:srgbClr val="005500"/>
                </a:solidFill>
                <a:latin typeface="Arial Black"/>
              </a:defRPr>
            </a:pPr>
            <a:r>
              <a:t>+20% WEIGHT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Deviation against 10-year monsoon average and access to tube-well/perennial river irrigation.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3913632"/>
            <a:ext cx="5120640" cy="2103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5120640" cy="2103120"/>
          </a:xfrm>
          <a:prstGeom prst="rect">
            <a:avLst/>
          </a:prstGeom>
          <a:solidFill>
            <a:srgbClr val="B8A9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000000"/>
                </a:solidFill>
                <a:latin typeface="Arial Black"/>
              </a:defRPr>
            </a:pPr>
            <a:r>
              <a:t>MANDI MARKET ACCESS</a:t>
            </a:r>
          </a:p>
          <a:p>
            <a:pPr algn="l">
              <a:defRPr sz="1300" b="1">
                <a:solidFill>
                  <a:srgbClr val="005500"/>
                </a:solidFill>
                <a:latin typeface="Arial Black"/>
              </a:defRPr>
            </a:pPr>
            <a:r>
              <a:t>+15% WEIGHT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Proximity to regulated APMC mandis, historical wholesale crop realizations, and price stability.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3913632"/>
            <a:ext cx="5120640" cy="2103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3840480"/>
            <a:ext cx="5120640" cy="210312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000000"/>
                </a:solidFill>
                <a:latin typeface="Arial Black"/>
              </a:defRPr>
            </a:pPr>
            <a:r>
              <a:t>SOIL &amp; ROTATION RESILIENCE</a:t>
            </a:r>
          </a:p>
          <a:p>
            <a:pPr algn="l">
              <a:defRPr sz="1300" b="1">
                <a:solidFill>
                  <a:srgbClr val="005500"/>
                </a:solidFill>
                <a:latin typeface="Arial Black"/>
              </a:defRPr>
            </a:pPr>
            <a:r>
              <a:t>+15% WEIGHT</a:t>
            </a:r>
          </a:p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Soil type (black cotton, alluvial loam) and multi-cropping history (Kharif, Rabi, Zaid rotation).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" y="256032"/>
            <a:ext cx="201168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"/>
            <a:ext cx="2011680" cy="640080"/>
          </a:xfrm>
          <a:prstGeom prst="rect">
            <a:avLst/>
          </a:prstGeom>
          <a:solidFill>
            <a:srgbClr val="FFD152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  <a:latin typeface="Arial Black"/>
              </a:defRPr>
            </a:pPr>
            <a:r>
              <a:t>TVS CREDIT'26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3716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 Black"/>
              </a:defRPr>
            </a:pPr>
            <a:r>
              <a:t>HARVEST-ALIGNED DYNAMIC EMI STRUCTURING</a:t>
            </a:r>
          </a:p>
          <a:p>
            <a:pPr algn="l">
              <a:defRPr sz="1000" b="0">
                <a:solidFill>
                  <a:srgbClr val="666666"/>
                </a:solidFill>
                <a:latin typeface="Consolas"/>
              </a:defRPr>
            </a:pPr>
            <a:r>
              <a:t>CROP CYCLE CASH-FLOW MATCHING VS RIGID BANK EMIs</a:t>
            </a:r>
          </a:p>
        </p:txBody>
      </p:sp>
      <p:sp>
        <p:nvSpPr>
          <p:cNvPr id="6" name="Rectangle 5"/>
          <p:cNvSpPr/>
          <p:nvPr/>
        </p:nvSpPr>
        <p:spPr>
          <a:xfrm>
            <a:off x="9948672" y="301752"/>
            <a:ext cx="164592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75520" y="228600"/>
            <a:ext cx="1645920" cy="502920"/>
          </a:xfrm>
          <a:prstGeom prst="rect">
            <a:avLst/>
          </a:prstGeom>
          <a:solidFill>
            <a:srgbClr val="FFD152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Arial Black"/>
              </a:defRPr>
            </a:pPr>
            <a:r>
              <a:t>AI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1536192"/>
            <a:ext cx="5120640" cy="4663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5120640" cy="4663440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FFFF"/>
                </a:solidFill>
                <a:latin typeface="Arial Black"/>
              </a:defRPr>
            </a:pPr>
            <a:r>
              <a:t>TRADITIONAL FLAT BANK EMI (FLAWED)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❌ Fixed ₹12,500/month regardless of crop cycle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❌ Forces farmer into local moneylender debt during sowing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❌ Defaults occur during fertilizer purchase peak (July/Aug)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❌ Artificial NPA generation despite bumper harvest in Nov</a:t>
            </a:r>
          </a:p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❌ High collection costs and legal repossession overhead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1536192"/>
            <a:ext cx="5212080" cy="4663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212080" cy="4663440"/>
          </a:xfrm>
          <a:prstGeom prst="rect">
            <a:avLst/>
          </a:prstGeom>
          <a:solidFill>
            <a:srgbClr val="FFD152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000000"/>
                </a:solidFill>
                <a:latin typeface="Arial Black"/>
              </a:defRPr>
            </a:pPr>
            <a:r>
              <a:t>TVS HARVEST-ALIGNED MODEL (INNOVATION)</a:t>
            </a:r>
          </a:p>
          <a:p>
            <a:pPr algn="l">
              <a:defRPr sz="1300" b="1">
                <a:solidFill>
                  <a:srgbClr val="000000"/>
                </a:solidFill>
                <a:latin typeface="Calibri"/>
              </a:defRPr>
            </a:pPr>
            <a:r>
              <a:t>✅ Sowing Season (Jun-Aug): Nominal ₹800/mo token interest</a:t>
            </a:r>
          </a:p>
          <a:p>
            <a:pPr algn="l">
              <a:defRPr sz="1300" b="1">
                <a:solidFill>
                  <a:srgbClr val="000000"/>
                </a:solidFill>
                <a:latin typeface="Calibri"/>
              </a:defRPr>
            </a:pPr>
            <a:r>
              <a:t>✅ Growing Season (Sep): ₹1,200/mo low-load payment</a:t>
            </a:r>
          </a:p>
          <a:p>
            <a:pPr algn="l">
              <a:defRPr sz="1300" b="1">
                <a:solidFill>
                  <a:srgbClr val="000000"/>
                </a:solidFill>
                <a:latin typeface="Calibri"/>
              </a:defRPr>
            </a:pPr>
            <a:r>
              <a:t>✅ Harvest Season (Oct/Nov): ₹68,000 bullet payment post-mandi</a:t>
            </a:r>
          </a:p>
          <a:p>
            <a:pPr algn="l">
              <a:defRPr sz="1300" b="1">
                <a:solidFill>
                  <a:srgbClr val="000000"/>
                </a:solidFill>
                <a:latin typeface="Calibri"/>
              </a:defRPr>
            </a:pPr>
            <a:r>
              <a:t>✅ Rabi Sowing (Dec-Feb): Reduced ₹1,000/mo liquidity relief</a:t>
            </a:r>
          </a:p>
          <a:p>
            <a:pPr algn="l">
              <a:defRPr sz="1300" b="1">
                <a:solidFill>
                  <a:srgbClr val="000000"/>
                </a:solidFill>
                <a:latin typeface="Calibri"/>
              </a:defRPr>
            </a:pPr>
            <a:r>
              <a:t>✅ 42% Drop in 90-day delinquency and zero repossession friction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" y="256032"/>
            <a:ext cx="201168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"/>
            <a:ext cx="2011680" cy="640080"/>
          </a:xfrm>
          <a:prstGeom prst="rect">
            <a:avLst/>
          </a:prstGeom>
          <a:solidFill>
            <a:srgbClr val="FFD152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  <a:latin typeface="Arial Black"/>
              </a:defRPr>
            </a:pPr>
            <a:r>
              <a:t>TVS CREDIT'26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3716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 Black"/>
              </a:defRPr>
            </a:pPr>
            <a:r>
              <a:t>PORTFOLIO EARLY WARNING RADAR &amp; DEFAULTER PREVENTION</a:t>
            </a:r>
          </a:p>
          <a:p>
            <a:pPr algn="l">
              <a:defRPr sz="1000" b="0">
                <a:solidFill>
                  <a:srgbClr val="666666"/>
                </a:solidFill>
                <a:latin typeface="Consolas"/>
              </a:defRPr>
            </a:pPr>
            <a:r>
              <a:t>PROACTIVE SATELLITE SURVEILLANCE &amp; RESTRUCTURING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9948672" y="301752"/>
            <a:ext cx="164592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75520" y="228600"/>
            <a:ext cx="1645920" cy="502920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Arial Black"/>
              </a:defRPr>
            </a:pPr>
            <a:r>
              <a:t>AI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1444752"/>
            <a:ext cx="10698480" cy="1051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10698480" cy="1051560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000000"/>
                </a:solidFill>
                <a:latin typeface="Arial Black"/>
              </a:defRPr>
            </a:pPr>
            <a:r>
              <a:t>📍 YAVATMAL, MH — [HIGH SEVERITY]</a:t>
            </a:r>
          </a:p>
          <a:p>
            <a:pPr algn="l">
              <a:defRPr sz="1200" b="0">
                <a:solidFill>
                  <a:srgbClr val="222222"/>
                </a:solidFill>
                <a:latin typeface="Calibri"/>
              </a:defRPr>
            </a:pPr>
            <a:r>
              <a:t>Drought stress: -34% rainfall deficit. 1,420 loans (₹180L exposure). Protocol: Automatic 60-day EMI extension &amp; SMS alert.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2633472"/>
            <a:ext cx="10698480" cy="1051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560320"/>
            <a:ext cx="10698480" cy="1051560"/>
          </a:xfrm>
          <a:prstGeom prst="rect">
            <a:avLst/>
          </a:prstGeom>
          <a:solidFill>
            <a:srgbClr val="FFD152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000000"/>
                </a:solidFill>
                <a:latin typeface="Arial Black"/>
              </a:defRPr>
            </a:pPr>
            <a:r>
              <a:t>📍 BATHINDA, PB — [HIGH SEVERITY]</a:t>
            </a:r>
          </a:p>
          <a:p>
            <a:pPr algn="l">
              <a:defRPr sz="1200" b="0">
                <a:solidFill>
                  <a:srgbClr val="222222"/>
                </a:solidFill>
                <a:latin typeface="Calibri"/>
              </a:defRPr>
            </a:pPr>
            <a:r>
              <a:t>Pest outbreak &amp; mandi crash in Cotton belt. 890 loans (₹145L exposure). Protocol: Restructure to Rabi wheat bullet harvest.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3822191"/>
            <a:ext cx="10698480" cy="1051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749039"/>
            <a:ext cx="10698480" cy="1051560"/>
          </a:xfrm>
          <a:prstGeom prst="rect">
            <a:avLst/>
          </a:prstGeom>
          <a:solidFill>
            <a:srgbClr val="B8A9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000000"/>
                </a:solidFill>
                <a:latin typeface="Arial Black"/>
              </a:defRPr>
            </a:pPr>
            <a:r>
              <a:t>📍 THANJAVUR, TN — [MEDIUM SEVERITY]</a:t>
            </a:r>
          </a:p>
          <a:p>
            <a:pPr algn="l">
              <a:defRPr sz="1200" b="0">
                <a:solidFill>
                  <a:srgbClr val="222222"/>
                </a:solidFill>
                <a:latin typeface="Calibri"/>
              </a:defRPr>
            </a:pPr>
            <a:r>
              <a:t>Kuruvai harvest delay due to unseasonal rain. 1,150 loans (₹190L exposure). Protocol: 30-day grace period without penalty.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" y="5010912"/>
            <a:ext cx="10698480" cy="1051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937760"/>
            <a:ext cx="10698480" cy="10515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000000"/>
                </a:solidFill>
                <a:latin typeface="Arial Black"/>
              </a:defRPr>
            </a:pPr>
            <a:r>
              <a:t>📍 SEHORE, MP — [LOW SEVERITY]</a:t>
            </a:r>
          </a:p>
          <a:p>
            <a:pPr algn="l">
              <a:defRPr sz="1200" b="0">
                <a:solidFill>
                  <a:srgbClr val="222222"/>
                </a:solidFill>
                <a:latin typeface="Calibri"/>
              </a:defRPr>
            </a:pPr>
            <a:r>
              <a:t>Optimal soybean biomass (+14% yield). 650 loans (₹95L exposure). Protocol: Pre-approved tractor implement upgrade offer.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" y="256032"/>
            <a:ext cx="201168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"/>
            <a:ext cx="2011680" cy="640080"/>
          </a:xfrm>
          <a:prstGeom prst="rect">
            <a:avLst/>
          </a:prstGeom>
          <a:solidFill>
            <a:srgbClr val="FFD152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  <a:latin typeface="Arial Black"/>
              </a:defRPr>
            </a:pPr>
            <a:r>
              <a:t>TVS CREDIT'26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3716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 Black"/>
              </a:defRPr>
            </a:pPr>
            <a:r>
              <a:t>GENAI 'TVS SAHAYAK' — VERNACULAR LOAN COPILOT</a:t>
            </a:r>
          </a:p>
          <a:p>
            <a:pPr algn="l">
              <a:defRPr sz="1000" b="0">
                <a:solidFill>
                  <a:srgbClr val="666666"/>
                </a:solidFill>
                <a:latin typeface="Consolas"/>
              </a:defRPr>
            </a:pPr>
            <a:r>
              <a:t>MULTILINGUAL CONVERSATIONAL AI FOR RURAL FINANCIAL INCLUSION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948672" y="301752"/>
            <a:ext cx="164592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75520" y="228600"/>
            <a:ext cx="1645920" cy="502920"/>
          </a:xfrm>
          <a:prstGeom prst="rect">
            <a:avLst/>
          </a:prstGeom>
          <a:solidFill>
            <a:srgbClr val="B8A9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Arial Black"/>
              </a:defRPr>
            </a:pPr>
            <a:r>
              <a:t>AI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1536192"/>
            <a:ext cx="5120640" cy="4663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5120640" cy="466344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000000"/>
                </a:solidFill>
                <a:latin typeface="Arial Black"/>
              </a:defRPr>
            </a:pPr>
            <a:r>
              <a:t>AI ARCHITECTURE &amp; CAPABILITIES</a:t>
            </a:r>
          </a:p>
          <a:p>
            <a:pPr algn="l">
              <a:defRPr sz="1200" b="1">
                <a:solidFill>
                  <a:srgbClr val="000000"/>
                </a:solidFill>
                <a:latin typeface="Arial Black"/>
              </a:defRPr>
            </a:pPr>
            <a:r>
              <a:t>• Multilingual NLP:</a:t>
            </a:r>
          </a:p>
          <a:p>
            <a:pPr algn="l">
              <a:defRPr sz="1100" b="0">
                <a:solidFill>
                  <a:srgbClr val="444444"/>
                </a:solidFill>
                <a:latin typeface="Calibri"/>
              </a:defRPr>
            </a:pPr>
            <a:r>
              <a:t>  Supports Hindi, Tamil, Punjabi, Marathi, Telugu &amp; English with voice recognition.</a:t>
            </a:r>
          </a:p>
          <a:p>
            <a:pPr algn="l">
              <a:defRPr sz="1200" b="1">
                <a:solidFill>
                  <a:srgbClr val="000000"/>
                </a:solidFill>
                <a:latin typeface="Arial Black"/>
              </a:defRPr>
            </a:pPr>
            <a:r>
              <a:t>• Simplified Explainability:</a:t>
            </a:r>
          </a:p>
          <a:p>
            <a:pPr algn="l">
              <a:defRPr sz="1100" b="0">
                <a:solidFill>
                  <a:srgbClr val="444444"/>
                </a:solidFill>
                <a:latin typeface="Calibri"/>
              </a:defRPr>
            </a:pPr>
            <a:r>
              <a:t>  Translates complex SHAP credit scores and satellite NDVI jargon into simple rural analogies.</a:t>
            </a:r>
          </a:p>
          <a:p>
            <a:pPr algn="l">
              <a:defRPr sz="1200" b="1">
                <a:solidFill>
                  <a:srgbClr val="000000"/>
                </a:solidFill>
                <a:latin typeface="Arial Black"/>
              </a:defRPr>
            </a:pPr>
            <a:r>
              <a:t>• Zero-Paperwork Onboarding:</a:t>
            </a:r>
          </a:p>
          <a:p>
            <a:pPr algn="l">
              <a:defRPr sz="1100" b="0">
                <a:solidFill>
                  <a:srgbClr val="444444"/>
                </a:solidFill>
                <a:latin typeface="Calibri"/>
              </a:defRPr>
            </a:pPr>
            <a:r>
              <a:t>  Guides farmer through Aadhaar KYC, crop details, and harvest cycle selection via audio dialogue.</a:t>
            </a:r>
          </a:p>
          <a:p>
            <a:pPr algn="l">
              <a:defRPr sz="1200" b="1">
                <a:solidFill>
                  <a:srgbClr val="000000"/>
                </a:solidFill>
                <a:latin typeface="Arial Black"/>
              </a:defRPr>
            </a:pPr>
            <a:r>
              <a:t>• Fraud &amp; Scam Protection:</a:t>
            </a:r>
          </a:p>
          <a:p>
            <a:pPr algn="l">
              <a:defRPr sz="1100" b="0">
                <a:solidFill>
                  <a:srgbClr val="444444"/>
                </a:solidFill>
                <a:latin typeface="Calibri"/>
              </a:defRPr>
            </a:pPr>
            <a:r>
              <a:t>  Alerts farmers against predatory middleman rates and explains exact government subsidy tie-ups.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1536192"/>
            <a:ext cx="5212080" cy="4663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212080" cy="4663440"/>
          </a:xfrm>
          <a:prstGeom prst="rect">
            <a:avLst/>
          </a:prstGeom>
          <a:solidFill>
            <a:srgbClr val="FFD152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800" b="1">
                <a:solidFill>
                  <a:srgbClr val="000000"/>
                </a:solidFill>
                <a:latin typeface="Arial Black"/>
              </a:defRPr>
            </a:pPr>
            <a:r>
              <a:t>LIVE SAHAYAK INTERACTION SAMPLE</a:t>
            </a:r>
          </a:p>
          <a:p>
            <a:pPr algn="l">
              <a:defRPr sz="1200" b="1">
                <a:solidFill>
                  <a:srgbClr val="000000"/>
                </a:solidFill>
                <a:latin typeface="Arial Black"/>
              </a:defRPr>
            </a:pPr>
            <a:r>
              <a:t>💬 Farmer (Voice/Hindi):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   'भैया, मुझे 45 HP का ट्रैक्टर लेना है, मेरी 6 एकड़ कपास की खेती है, लोन कैसे मिलेगा?'</a:t>
            </a:r>
          </a:p>
          <a:p>
            <a:pPr algn="l">
              <a:defRPr sz="1200" b="1">
                <a:solidFill>
                  <a:srgbClr val="000000"/>
                </a:solidFill>
                <a:latin typeface="Arial Black"/>
              </a:defRPr>
            </a:pPr>
            <a:r>
              <a:t>💬 TVS Sahayak (Hindi):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   'नमस्ते रमेश जी! हमने सैटेलाइट से आपका खेत देखा — कपास की फसल हरी और स्वस्थ है (NDVI 0.68)। आपको ₹4.5 लाख का ट्रैक्टर लोन बिना किसी गारंटी के मंजूर है! बुआई के 4 महीने किश्त सिर्फ ₹800 लगेगी, बाकी फसल बिकने पर।'</a:t>
            </a:r>
          </a:p>
          <a:p>
            <a:pPr algn="l">
              <a:defRPr sz="1200" b="1">
                <a:solidFill>
                  <a:srgbClr val="000000"/>
                </a:solidFill>
                <a:latin typeface="Arial Black"/>
              </a:defRPr>
            </a:pPr>
            <a:r>
              <a:t>💬 Farmer (Voice/Hindi):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   'क्या मुझे बैंक के चक्कर लगाने पड़ेंगे?'</a:t>
            </a:r>
          </a:p>
          <a:p>
            <a:pPr algn="l">
              <a:defRPr sz="1200" b="1">
                <a:solidFill>
                  <a:srgbClr val="000000"/>
                </a:solidFill>
                <a:latin typeface="Arial Black"/>
              </a:defRPr>
            </a:pPr>
            <a:r>
              <a:t>💬 TVS Sahayak (Hindi):</a:t>
            </a:r>
          </a:p>
          <a:p>
            <a:pPr algn="l">
              <a:defRPr sz="1100" b="0">
                <a:solidFill>
                  <a:srgbClr val="222222"/>
                </a:solidFill>
                <a:latin typeface="Calibri"/>
              </a:defRPr>
            </a:pPr>
            <a:r>
              <a:t>   'बिल्कुल नहीं! आपका आधार और खतौनी ऑनलाइन जांची गई है। 24 घंटे में पैसा सीधे आपके TVS खाते में आएगा!'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" y="256032"/>
            <a:ext cx="201168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"/>
            <a:ext cx="2011680" cy="640080"/>
          </a:xfrm>
          <a:prstGeom prst="rect">
            <a:avLst/>
          </a:prstGeom>
          <a:solidFill>
            <a:srgbClr val="FFD152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  <a:latin typeface="Arial Black"/>
              </a:defRPr>
            </a:pPr>
            <a:r>
              <a:t>TVS CREDIT'26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3716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 Black"/>
              </a:defRPr>
            </a:pPr>
            <a:r>
              <a:t>BUSINESS IMPACT, ROI &amp; PERFORMANCE METRICS</a:t>
            </a:r>
          </a:p>
          <a:p>
            <a:pPr algn="l">
              <a:defRPr sz="1000" b="0">
                <a:solidFill>
                  <a:srgbClr val="666666"/>
                </a:solidFill>
                <a:latin typeface="Consolas"/>
              </a:defRPr>
            </a:pPr>
            <a:r>
              <a:t>QUANTIFIABLE METRICS DELIVERED BY TVS DECISION 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9948672" y="301752"/>
            <a:ext cx="164592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75520" y="228600"/>
            <a:ext cx="1645920" cy="502920"/>
          </a:xfrm>
          <a:prstGeom prst="rect">
            <a:avLst/>
          </a:prstGeom>
          <a:solidFill>
            <a:srgbClr val="2ED573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Arial Black"/>
              </a:defRPr>
            </a:pPr>
            <a:r>
              <a:t>AI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1536192"/>
            <a:ext cx="3383280" cy="2194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3383280" cy="2194560"/>
          </a:xfrm>
          <a:prstGeom prst="rect">
            <a:avLst/>
          </a:prstGeom>
          <a:solidFill>
            <a:srgbClr val="FFD152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000000"/>
                </a:solidFill>
                <a:latin typeface="Arial Black"/>
              </a:defRPr>
            </a:pPr>
            <a:r>
              <a:t>&lt; 3 MIN</a:t>
            </a:r>
          </a:p>
          <a:p>
            <a:pPr algn="l">
              <a:defRPr sz="1300" b="1">
                <a:solidFill>
                  <a:srgbClr val="000000"/>
                </a:solidFill>
                <a:latin typeface="Arial Black"/>
              </a:defRPr>
            </a:pPr>
            <a:r>
              <a:t>SANCTION TURNAROUND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Reduced from 14-21 days of manual physical audits to instant AI sanction.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536192"/>
            <a:ext cx="3383280" cy="2194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383280" cy="2194560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000000"/>
                </a:solidFill>
                <a:latin typeface="Arial Black"/>
              </a:defRPr>
            </a:pPr>
            <a:r>
              <a:t>38% DROP</a:t>
            </a:r>
          </a:p>
          <a:p>
            <a:pPr algn="l">
              <a:defRPr sz="1300" b="1">
                <a:solidFill>
                  <a:srgbClr val="000000"/>
                </a:solidFill>
                <a:latin typeface="Arial Black"/>
              </a:defRPr>
            </a:pPr>
            <a:r>
              <a:t>UNDERWRITING CAC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Eliminated redundant manual field-inspection trips with satellite cadastral scans.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36992" y="1536192"/>
            <a:ext cx="3383280" cy="2194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1463040"/>
            <a:ext cx="3383280" cy="2194560"/>
          </a:xfrm>
          <a:prstGeom prst="rect">
            <a:avLst/>
          </a:prstGeom>
          <a:solidFill>
            <a:srgbClr val="B8A9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000000"/>
                </a:solidFill>
                <a:latin typeface="Arial Black"/>
              </a:defRPr>
            </a:pPr>
            <a:r>
              <a:t>42% LESS</a:t>
            </a:r>
          </a:p>
          <a:p>
            <a:pPr algn="l">
              <a:defRPr sz="1300" b="1">
                <a:solidFill>
                  <a:srgbClr val="000000"/>
                </a:solidFill>
                <a:latin typeface="Arial Black"/>
              </a:defRPr>
            </a:pPr>
            <a:r>
              <a:t>90-DAY DELINQUENCY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Harvest-aligned EMIs eliminate artificial defaults during cash-strapped sowing months.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" y="3913632"/>
            <a:ext cx="3383280" cy="2194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3383280" cy="21945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000000"/>
                </a:solidFill>
                <a:latin typeface="Arial Black"/>
              </a:defRPr>
            </a:pPr>
            <a:r>
              <a:t>90% LTV</a:t>
            </a:r>
          </a:p>
          <a:p>
            <a:pPr algn="l">
              <a:defRPr sz="1300" b="1">
                <a:solidFill>
                  <a:srgbClr val="000000"/>
                </a:solidFill>
                <a:latin typeface="Arial Black"/>
              </a:defRPr>
            </a:pPr>
            <a:r>
              <a:t>MAXIMUM FINANCING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Increased from industry avg of 70% due to real-time satellite crop yield certainty.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0832" y="3913632"/>
            <a:ext cx="3383280" cy="2194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3840480"/>
            <a:ext cx="3383280" cy="2194560"/>
          </a:xfrm>
          <a:prstGeom prst="rect">
            <a:avLst/>
          </a:prstGeom>
          <a:solidFill>
            <a:srgbClr val="FFD152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000000"/>
                </a:solidFill>
                <a:latin typeface="Arial Black"/>
              </a:defRPr>
            </a:pPr>
            <a:r>
              <a:t>26 MILLION+</a:t>
            </a:r>
          </a:p>
          <a:p>
            <a:pPr algn="l">
              <a:defRPr sz="1300" b="1">
                <a:solidFill>
                  <a:srgbClr val="000000"/>
                </a:solidFill>
                <a:latin typeface="Arial Black"/>
              </a:defRPr>
            </a:pPr>
            <a:r>
              <a:t>RURAL CUSTOMERS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Cumulative lives empowered across Tier 3, Tier 4 towns and agricultural heartlands.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36992" y="3913632"/>
            <a:ext cx="3383280" cy="2194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3840480"/>
            <a:ext cx="3383280" cy="2194560"/>
          </a:xfrm>
          <a:prstGeom prst="rect">
            <a:avLst/>
          </a:prstGeom>
          <a:solidFill>
            <a:srgbClr val="2ED573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000000"/>
                </a:solidFill>
                <a:latin typeface="Arial Black"/>
              </a:defRPr>
            </a:pPr>
            <a:r>
              <a:t>AA+ CRISIL</a:t>
            </a:r>
          </a:p>
          <a:p>
            <a:pPr algn="l">
              <a:defRPr sz="1300" b="1">
                <a:solidFill>
                  <a:srgbClr val="000000"/>
                </a:solidFill>
                <a:latin typeface="Arial Black"/>
              </a:defRPr>
            </a:pPr>
            <a:r>
              <a:t>CREDIT STABILITY</a:t>
            </a:r>
          </a:p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Highest industry credit rating driven by resilient, diversified agri-portfolio risk.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" y="256032"/>
            <a:ext cx="201168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"/>
            <a:ext cx="2011680" cy="640080"/>
          </a:xfrm>
          <a:prstGeom prst="rect">
            <a:avLst/>
          </a:prstGeom>
          <a:solidFill>
            <a:srgbClr val="FFD152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0000"/>
                </a:solidFill>
                <a:latin typeface="Arial Black"/>
              </a:defRPr>
            </a:pPr>
            <a:r>
              <a:t>TVS CREDIT'26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3716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 Black"/>
              </a:defRPr>
            </a:pPr>
            <a:r>
              <a:t>THE FUTURE ROADMAP &amp; SCALING VISION</a:t>
            </a:r>
          </a:p>
          <a:p>
            <a:pPr algn="l">
              <a:defRPr sz="1000" b="0">
                <a:solidFill>
                  <a:srgbClr val="666666"/>
                </a:solidFill>
                <a:latin typeface="Consolas"/>
              </a:defRPr>
            </a:pPr>
            <a:r>
              <a:t>TVS CREDIT — EMPOWERING INDIA. ONE FARMER AT A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948672" y="301752"/>
            <a:ext cx="164592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75520" y="228600"/>
            <a:ext cx="1645920" cy="502920"/>
          </a:xfrm>
          <a:prstGeom prst="rect">
            <a:avLst/>
          </a:prstGeom>
          <a:solidFill>
            <a:srgbClr val="FFD152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Arial Black"/>
              </a:defRPr>
            </a:pPr>
            <a:r>
              <a:t>AI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1444752"/>
            <a:ext cx="1069848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10698480" cy="100584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000000"/>
                </a:solidFill>
                <a:latin typeface="Arial Black"/>
              </a:defRPr>
            </a:pPr>
            <a:r>
              <a:t>★ PHASE 1: NATIONWIDE SATELLITE EXPANSION</a:t>
            </a:r>
          </a:p>
          <a:p>
            <a:pPr algn="l">
              <a:defRPr sz="1200" b="0">
                <a:solidFill>
                  <a:srgbClr val="222222"/>
                </a:solidFill>
                <a:latin typeface="Calibri"/>
              </a:defRPr>
            </a:pPr>
            <a:r>
              <a:t>Extend Sentinel-2 &amp; SAR radar coverage to 150+ agro-climatic zones across Maharashtra, Punjab, Tamil Nadu, MP, UP &amp; Rajasthan.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2587752"/>
            <a:ext cx="1069848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514600"/>
            <a:ext cx="10698480" cy="1005840"/>
          </a:xfrm>
          <a:prstGeom prst="rect">
            <a:avLst/>
          </a:prstGeom>
          <a:solidFill>
            <a:srgbClr val="FFD152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000000"/>
                </a:solidFill>
                <a:latin typeface="Arial Black"/>
              </a:defRPr>
            </a:pPr>
            <a:r>
              <a:t>★ PHASE 2: IOT &amp; SOIL SENSOR SYNDICATION</a:t>
            </a:r>
          </a:p>
          <a:p>
            <a:pPr algn="l">
              <a:defRPr sz="1200" b="0">
                <a:solidFill>
                  <a:srgbClr val="222222"/>
                </a:solidFill>
                <a:latin typeface="Calibri"/>
              </a:defRPr>
            </a:pPr>
            <a:r>
              <a:t>Integrate automated digital mandi telemetry and private IoT soil-moisture probes for hyper-local yield insurance linkage.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3730752"/>
            <a:ext cx="1069848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657600"/>
            <a:ext cx="10698480" cy="1005840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000000"/>
                </a:solidFill>
                <a:latin typeface="Arial Black"/>
              </a:defRPr>
            </a:pPr>
            <a:r>
              <a:t>★ PHASE 3: SUSTAINABLE GREEN FINANCING</a:t>
            </a:r>
          </a:p>
          <a:p>
            <a:pPr algn="l">
              <a:defRPr sz="1200" b="0">
                <a:solidFill>
                  <a:srgbClr val="222222"/>
                </a:solidFill>
                <a:latin typeface="Calibri"/>
              </a:defRPr>
            </a:pPr>
            <a:r>
              <a:t>Subsidized 0% interest credit tiers for solar water pumps, micro-drip irrigation, and zero-tillage residue management.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" y="4873752"/>
            <a:ext cx="1069848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800600"/>
            <a:ext cx="10698480" cy="1005840"/>
          </a:xfrm>
          <a:prstGeom prst="rect">
            <a:avLst/>
          </a:prstGeom>
          <a:solidFill>
            <a:srgbClr val="B8A9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000000"/>
                </a:solidFill>
                <a:latin typeface="Arial Black"/>
              </a:defRPr>
            </a:pPr>
            <a:r>
              <a:t>★ PHASE 4: ONDC &amp; AGRI-VALUE CHAIN NETWORK</a:t>
            </a:r>
          </a:p>
          <a:p>
            <a:pPr algn="l">
              <a:defRPr sz="1200" b="0">
                <a:solidFill>
                  <a:srgbClr val="222222"/>
                </a:solidFill>
                <a:latin typeface="Calibri"/>
              </a:defRPr>
            </a:pPr>
            <a:r>
              <a:t>Directly disburse funds to farm input dealers, seed distributors, and cold storage lockers with automated warehouse receipt loans.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