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693908" cy="75556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234440"/>
            <a:ext cx="6858000" cy="5669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D152"/>
                </a:solidFill>
                <a:latin typeface="Calibri"/>
              </a:defRPr>
            </a:pPr>
            <a:r>
              <a:t>TVS CREDIT E.P.I.C 8  //  IT CASE STUDY CHALLENGE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SMART LENDING</a:t>
            </a:r>
            <a:br/>
            <a:r>
              <a:t>DECISION HUB</a:t>
            </a:r>
          </a:p>
          <a:p>
            <a:pPr>
              <a:spcAft>
                <a:spcPts val="1400"/>
              </a:spcAft>
              <a:defRPr sz="1350" b="1">
                <a:solidFill>
                  <a:srgbClr val="EEF8F2"/>
                </a:solidFill>
                <a:latin typeface="Calibri"/>
              </a:defRPr>
            </a:pPr>
            <a:r>
              <a:t>Empowering Rural Bharat with Geospatial AI, Sentinel-2 Crop Telemetry &amp; Harvest-Aligned Dynamic Repayments</a:t>
            </a:r>
          </a:p>
          <a:p>
            <a:pPr>
              <a:spcAft>
                <a:spcPts val="1600"/>
              </a:spcAft>
              <a:defRPr sz="1100" i="1">
                <a:solidFill>
                  <a:srgbClr val="C8FF3D"/>
                </a:solidFill>
                <a:latin typeface="Calibri"/>
              </a:defRPr>
            </a:pPr>
            <a:r>
              <a:t>PROBLEM STATEMENT (c): Alternative Underwriting &amp; AI Credit Risk for Rural Borrowers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🛰️  10-Meter Sentinel-2 Satellite Multi-Spectral NDVI &amp; Automated Cadastre Verification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📊  Explainable AI Scoring Engine with Factor Contribution SHAP Attribution Drivers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🌾  Cash-Flow Synchronized Harvest-Aligned Bullet Repayment Structuring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🚨  Real-Time Agro-Climatic Early-Warning Anomaly Radar &amp; Default Prevention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🤖  GenAI 'TVS Sahayak' Multilingual Vernacular Voice &amp; Text Underwriting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D152"/>
                </a:solidFill>
                <a:latin typeface="Arial Black"/>
              </a:defRPr>
            </a:pPr>
            <a:r>
              <a:t>TEAM HANDLE:  hverma0511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TEAM MEMBERS:  Harshit Verma  |  Nandani Singh</a:t>
            </a:r>
          </a:p>
          <a:p>
            <a:pPr>
              <a:defRPr sz="1200" b="1">
                <a:solidFill>
                  <a:srgbClr val="C8FF3D"/>
                </a:solidFill>
                <a:latin typeface="Calibri"/>
              </a:defRPr>
            </a:pPr>
            <a:r>
              <a:t>LIVE DEPLOYED PROTOTYPE:  https://tvs-pied.vercel.app/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TVS CREDIT E.P.I.C 8 // IT CASE STUDY // PROBLEM STATEMENT (C)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EXECUTIVE SUMMARY: THE NEXT-GEN LENDING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971800" cy="4389120"/>
          </a:xfrm>
          <a:prstGeom prst="rect">
            <a:avLst/>
          </a:prstGeom>
          <a:solidFill>
            <a:srgbClr val="EEF6FC"/>
          </a:solidFill>
          <a:ln w="2540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>
                <a:solidFill>
                  <a:srgbClr val="00609C"/>
                </a:solidFill>
                <a:latin typeface="Arial Black"/>
              </a:defRPr>
            </a:pPr>
            <a:r>
              <a:t>THE STRATEGIC CONTEXT</a:t>
            </a:r>
          </a:p>
          <a:p>
            <a:pPr>
              <a:defRPr sz="1100" b="1">
                <a:solidFill>
                  <a:srgbClr val="111111"/>
                </a:solidFill>
                <a:latin typeface="Calibri"/>
              </a:defRPr>
            </a:pPr>
            <a:r>
              <a:t>• TVS Credit Heartland Presence: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Calibri"/>
              </a:defRPr>
            </a:pPr>
            <a:r>
              <a:t>  A premier NBFC serving 26M+ rural &amp; semi-urban customers across India with Tractor, Two-Wheeler, and MSME loans.</a:t>
            </a:r>
          </a:p>
          <a:p>
            <a:pPr>
              <a:defRPr sz="1100" b="1">
                <a:solidFill>
                  <a:srgbClr val="111111"/>
                </a:solidFill>
                <a:latin typeface="Calibri"/>
              </a:defRPr>
            </a:pPr>
            <a:r>
              <a:t>• The Smallholder Challenge: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Calibri"/>
              </a:defRPr>
            </a:pPr>
            <a:r>
              <a:t>  Over 80% of farming borrowers operate in a cash economy with zero formal CIBIL credit score.</a:t>
            </a:r>
          </a:p>
          <a:p>
            <a:pPr>
              <a:defRPr sz="1100" b="1">
                <a:solidFill>
                  <a:srgbClr val="111111"/>
                </a:solidFill>
                <a:latin typeface="Calibri"/>
              </a:defRPr>
            </a:pPr>
            <a:r>
              <a:t>• The Paradigm Shift: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Calibri"/>
              </a:defRPr>
            </a:pPr>
            <a:r>
              <a:t>  Transitioning from slow, subjective physical auditing to objective, algorithmic geospatial underwriting.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828800"/>
            <a:ext cx="2971800" cy="4389120"/>
          </a:xfrm>
          <a:prstGeom prst="rect">
            <a:avLst/>
          </a:prstGeom>
          <a:solidFill>
            <a:srgbClr val="EEF8F2"/>
          </a:solidFill>
          <a:ln w="2540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>
                <a:solidFill>
                  <a:srgbClr val="1E874B"/>
                </a:solidFill>
                <a:latin typeface="Arial Black"/>
              </a:defRPr>
            </a:pPr>
            <a:r>
              <a:t>THE CORE INNOVATION</a:t>
            </a:r>
          </a:p>
          <a:p>
            <a:pPr>
              <a:defRPr sz="1100" b="1">
                <a:solidFill>
                  <a:srgbClr val="111111"/>
                </a:solidFill>
                <a:latin typeface="Calibri"/>
              </a:defRPr>
            </a:pPr>
            <a:r>
              <a:t>• Sentinel-2 Satellite Telemetry: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Calibri"/>
              </a:defRPr>
            </a:pPr>
            <a:r>
              <a:t>  10-meter optical NDVI tracking crop canopy vigor, chlorophyll density &amp; soil moisture without physical field visits.</a:t>
            </a:r>
          </a:p>
          <a:p>
            <a:pPr>
              <a:defRPr sz="1100" b="1">
                <a:solidFill>
                  <a:srgbClr val="111111"/>
                </a:solidFill>
                <a:latin typeface="Calibri"/>
              </a:defRPr>
            </a:pPr>
            <a:r>
              <a:t>• Explainable AI Scoring: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Calibri"/>
              </a:defRPr>
            </a:pPr>
            <a:r>
              <a:t>  XGBoost + SHAP underwriting engine delivering instant, audit-compliant decisions in &lt; 3 minutes.</a:t>
            </a:r>
          </a:p>
          <a:p>
            <a:pPr>
              <a:defRPr sz="1100" b="1">
                <a:solidFill>
                  <a:srgbClr val="111111"/>
                </a:solidFill>
                <a:latin typeface="Calibri"/>
              </a:defRPr>
            </a:pPr>
            <a:r>
              <a:t>• Harvest-Aligned EMIs: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Calibri"/>
              </a:defRPr>
            </a:pPr>
            <a:r>
              <a:t>  Repayment amounts flex with crop-cutting dates — token interest in sowing, bullet post-mandi sale.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828800"/>
            <a:ext cx="2971800" cy="4389120"/>
          </a:xfrm>
          <a:prstGeom prst="rect">
            <a:avLst/>
          </a:prstGeom>
          <a:solidFill>
            <a:srgbClr val="FFF9E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>
                <a:solidFill>
                  <a:srgbClr val="D97706"/>
                </a:solidFill>
                <a:latin typeface="Arial Black"/>
              </a:defRPr>
            </a:pPr>
            <a:r>
              <a:t>QUANTIFIED IMPACT</a:t>
            </a:r>
          </a:p>
          <a:p>
            <a:pPr>
              <a:defRPr sz="1100" b="1">
                <a:solidFill>
                  <a:srgbClr val="111111"/>
                </a:solidFill>
                <a:latin typeface="Calibri"/>
              </a:defRPr>
            </a:pPr>
            <a:r>
              <a:t>• Sanction Speed: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Calibri"/>
              </a:defRPr>
            </a:pPr>
            <a:r>
              <a:t>  &lt; 3 Minutes automated credit decisioning vs 14-21 days of manual revenue-patwari audits.</a:t>
            </a:r>
          </a:p>
          <a:p>
            <a:pPr>
              <a:defRPr sz="1100" b="1">
                <a:solidFill>
                  <a:srgbClr val="111111"/>
                </a:solidFill>
                <a:latin typeface="Calibri"/>
              </a:defRPr>
            </a:pPr>
            <a:r>
              <a:t>• Underwriting CAC: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Calibri"/>
              </a:defRPr>
            </a:pPr>
            <a:r>
              <a:t>  38% decrease in customer acquisition &amp; loan servicing costs via remote digital cadastre verification.</a:t>
            </a:r>
          </a:p>
          <a:p>
            <a:pPr>
              <a:defRPr sz="1100" b="1">
                <a:solidFill>
                  <a:srgbClr val="111111"/>
                </a:solidFill>
                <a:latin typeface="Calibri"/>
              </a:defRPr>
            </a:pPr>
            <a:r>
              <a:t>• Delinquency Reduction:</a:t>
            </a:r>
          </a:p>
          <a:p>
            <a:pPr>
              <a:spcAft>
                <a:spcPts val="600"/>
              </a:spcAft>
              <a:defRPr sz="1000">
                <a:solidFill>
                  <a:srgbClr val="555555"/>
                </a:solidFill>
                <a:latin typeface="Calibri"/>
              </a:defRPr>
            </a:pPr>
            <a:r>
              <a:t>  42% drop in 90-day overdue accounts through cash-flow aligned harvest repayment scheduling.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TVS CREDIT E.P.I.C 8 // IT CASE STUDY // PROBLEM STATEMENT (C)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THE PROBLEM: WHY TRADITIONAL CREDIT EXCLUDES SMALLHOLDERS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4526280" cy="2103120"/>
          </a:xfrm>
          <a:prstGeom prst="rect">
            <a:avLst/>
          </a:prstGeom>
          <a:solidFill>
            <a:srgbClr val="FDEDED"/>
          </a:solidFill>
          <a:ln w="2286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200">
                <a:solidFill>
                  <a:srgbClr val="FF6B6B"/>
                </a:solidFill>
                <a:latin typeface="Arial Black"/>
              </a:defRPr>
            </a:pPr>
            <a:r>
              <a:t>01 // ABSENCE OF FORMAL CREDIT HISTORY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Over 80% of smallholder farmers operate in a cash-first ecosystem with zero CIBIL score.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Lack of IT returns or audited salary slips locks viable rural borrowers out of formal NBFC banking.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Drives farmers toward unorganized local moneylenders charging exorbitant 36%-60% interest rates.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4526280" cy="2103120"/>
          </a:xfrm>
          <a:prstGeom prst="rect">
            <a:avLst/>
          </a:prstGeom>
          <a:solidFill>
            <a:srgbClr val="FFF9E6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200">
                <a:solidFill>
                  <a:srgbClr val="D97706"/>
                </a:solidFill>
                <a:latin typeface="Arial Black"/>
              </a:defRPr>
            </a:pPr>
            <a:r>
              <a:t>02 // EXPENSIVE MANUAL LAND AUDITS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Traditional physical parcel verification takes 14 to 21 days with manual revenue-patwari audits.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Direct operational cost averages ₹3,500 per site visit, heavily inflating customer acquisition costs.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High vulnerability to boundary disputes, falsified tenancy documents, and forged land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69080"/>
            <a:ext cx="4526280" cy="2103120"/>
          </a:xfrm>
          <a:prstGeom prst="rect">
            <a:avLst/>
          </a:prstGeom>
          <a:solidFill>
            <a:srgbClr val="EEF6FC"/>
          </a:solidFill>
          <a:ln w="2286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200">
                <a:solidFill>
                  <a:srgbClr val="00609C"/>
                </a:solidFill>
                <a:latin typeface="Arial Black"/>
              </a:defRPr>
            </a:pPr>
            <a:r>
              <a:t>03 // RIGID FLAT MONTHLY EMIs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Conventional banking forces identical monthly EMIs (e.g. ₹12,500 every 30 days) across all 12 months.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During sowing seasons (July/Aug), farmer cash flow is depleted by seeds and fertilizers, causing defaults.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Triggers artificial loan delinquency despite a guaranteed bumper harvest maturity just 90 days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4069080"/>
            <a:ext cx="4526280" cy="2103120"/>
          </a:xfrm>
          <a:prstGeom prst="rect">
            <a:avLst/>
          </a:prstGeom>
          <a:solidFill>
            <a:srgbClr val="EEF8F2"/>
          </a:solidFill>
          <a:ln w="2286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400"/>
              </a:spcAft>
              <a:defRPr sz="1200">
                <a:solidFill>
                  <a:srgbClr val="1E874B"/>
                </a:solidFill>
                <a:latin typeface="Arial Black"/>
              </a:defRPr>
            </a:pPr>
            <a:r>
              <a:t>04 // CLIMATE &amp; MANDI PRICE CRASHES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Localized weather shocks (monsoon deficits, pest outbreaks) trigger regional default clusters.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Sudden wholesale APMC mandi price crashes wipe out crop profits without early risk notice.</a:t>
            </a:r>
          </a:p>
          <a:p>
            <a:pPr>
              <a:spcAft>
                <a:spcPts val="200"/>
              </a:spcAft>
              <a:defRPr sz="1000">
                <a:solidFill>
                  <a:srgbClr val="111111"/>
                </a:solidFill>
                <a:latin typeface="Calibri"/>
              </a:defRPr>
            </a:pPr>
            <a:r>
              <a:t>• Lenders lack predictive surveillance to restructure loans before accounts turn into NPAs.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TVS CREDIT E.P.I.C 8 // IT CASE STUDY // PROBLEM STATEMENT (C)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SYSTEM ARCHITECTURE: END-TO-END DECISION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691640" cy="3566160"/>
          </a:xfrm>
          <a:prstGeom prst="rect">
            <a:avLst/>
          </a:prstGeom>
          <a:solidFill>
            <a:srgbClr val="EEF6FC"/>
          </a:solidFill>
          <a:ln w="2540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000">
                <a:solidFill>
                  <a:srgbClr val="00609C"/>
                </a:solidFill>
                <a:latin typeface="Arial Black"/>
              </a:defRPr>
            </a:pPr>
            <a:r>
              <a:t>STAGE 01</a:t>
            </a:r>
          </a:p>
          <a:p>
            <a:pPr>
              <a:spcAft>
                <a:spcPts val="800"/>
              </a:spcAft>
              <a:defRPr sz="1100">
                <a:solidFill>
                  <a:srgbClr val="111111"/>
                </a:solidFill>
                <a:latin typeface="Arial Black"/>
              </a:defRPr>
            </a:pPr>
            <a:r>
              <a:t>DATA INGESTION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Sentinel-2 10m Optical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State Khasra Cadastre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IMD Agromet 30-Yr Weather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APMC Mandi Real-time Feeds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59736" y="3291840"/>
            <a:ext cx="128016" cy="320040"/>
          </a:xfrm>
          <a:prstGeom prst="rightArrow">
            <a:avLst/>
          </a:prstGeom>
          <a:solidFill>
            <a:srgbClr val="17402C"/>
          </a:solidFill>
          <a:ln w="1270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24328" y="1828800"/>
            <a:ext cx="1691640" cy="3566160"/>
          </a:xfrm>
          <a:prstGeom prst="rect">
            <a:avLst/>
          </a:prstGeom>
          <a:solidFill>
            <a:srgbClr val="EEF8F2"/>
          </a:solidFill>
          <a:ln w="2540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000">
                <a:solidFill>
                  <a:srgbClr val="1E874B"/>
                </a:solidFill>
                <a:latin typeface="Arial Black"/>
              </a:defRPr>
            </a:pPr>
            <a:r>
              <a:t>STAGE 02</a:t>
            </a:r>
          </a:p>
          <a:p>
            <a:pPr>
              <a:spcAft>
                <a:spcPts val="800"/>
              </a:spcAft>
              <a:defRPr sz="1100">
                <a:solidFill>
                  <a:srgbClr val="111111"/>
                </a:solidFill>
                <a:latin typeface="Arial Black"/>
              </a:defRPr>
            </a:pPr>
            <a:r>
              <a:t>FEATURE ENGINE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NDVI Chlorophyll Curve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NDWI Moisture Deficit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Geo-Fenced Polygon Match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Drought Variance Benchmarks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52544" y="3291840"/>
            <a:ext cx="128016" cy="320040"/>
          </a:xfrm>
          <a:prstGeom prst="rightArrow">
            <a:avLst/>
          </a:prstGeom>
          <a:solidFill>
            <a:srgbClr val="17402C"/>
          </a:solidFill>
          <a:ln w="1270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17136" y="1828800"/>
            <a:ext cx="1691640" cy="3566160"/>
          </a:xfrm>
          <a:prstGeom prst="rect">
            <a:avLst/>
          </a:prstGeom>
          <a:solidFill>
            <a:srgbClr val="FFF9E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000">
                <a:solidFill>
                  <a:srgbClr val="D97706"/>
                </a:solidFill>
                <a:latin typeface="Arial Black"/>
              </a:defRPr>
            </a:pPr>
            <a:r>
              <a:t>STAGE 03</a:t>
            </a:r>
          </a:p>
          <a:p>
            <a:pPr>
              <a:spcAft>
                <a:spcPts val="800"/>
              </a:spcAft>
              <a:defRPr sz="1100">
                <a:solidFill>
                  <a:srgbClr val="111111"/>
                </a:solidFill>
                <a:latin typeface="Arial Black"/>
              </a:defRPr>
            </a:pPr>
            <a:r>
              <a:t>AI SCORING CORE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XGBoost Gradient Model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SHAP Factor Contributions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Multi-Factor Score (0-100)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Risk Tier Stratification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45352" y="3291840"/>
            <a:ext cx="128016" cy="320040"/>
          </a:xfrm>
          <a:prstGeom prst="rightArrow">
            <a:avLst/>
          </a:prstGeom>
          <a:solidFill>
            <a:srgbClr val="17402C"/>
          </a:solidFill>
          <a:ln w="1270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9944" y="1828800"/>
            <a:ext cx="1691640" cy="3566160"/>
          </a:xfrm>
          <a:prstGeom prst="rect">
            <a:avLst/>
          </a:prstGeom>
          <a:solidFill>
            <a:srgbClr val="F4F0FF"/>
          </a:solidFill>
          <a:ln w="25400">
            <a:solidFill>
              <a:srgbClr val="B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000">
                <a:solidFill>
                  <a:srgbClr val="B8A9FF"/>
                </a:solidFill>
                <a:latin typeface="Arial Black"/>
              </a:defRPr>
            </a:pPr>
            <a:r>
              <a:t>STAGE 04</a:t>
            </a:r>
          </a:p>
          <a:p>
            <a:pPr>
              <a:spcAft>
                <a:spcPts val="800"/>
              </a:spcAft>
              <a:defRPr sz="1100">
                <a:solidFill>
                  <a:srgbClr val="111111"/>
                </a:solidFill>
                <a:latin typeface="Arial Black"/>
              </a:defRPr>
            </a:pPr>
            <a:r>
              <a:t>PRODUCT STRUCTURING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Dynamic Harvest EMI Engine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Token Sowing Rate (₹800/mo)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Bullet Mandi Principal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&lt; 3 Min Automated Sanction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38160" y="3291840"/>
            <a:ext cx="128016" cy="320040"/>
          </a:xfrm>
          <a:prstGeom prst="rightArrow">
            <a:avLst/>
          </a:prstGeom>
          <a:solidFill>
            <a:srgbClr val="17402C"/>
          </a:solidFill>
          <a:ln w="1270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1828800"/>
            <a:ext cx="1691640" cy="3566160"/>
          </a:xfrm>
          <a:prstGeom prst="rect">
            <a:avLst/>
          </a:prstGeom>
          <a:solidFill>
            <a:srgbClr val="FDEDED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000">
                <a:solidFill>
                  <a:srgbClr val="FF6B6B"/>
                </a:solidFill>
                <a:latin typeface="Arial Black"/>
              </a:defRPr>
            </a:pPr>
            <a:r>
              <a:t>STAGE 05</a:t>
            </a:r>
          </a:p>
          <a:p>
            <a:pPr>
              <a:spcAft>
                <a:spcPts val="800"/>
              </a:spcAft>
              <a:defRPr sz="1100">
                <a:solidFill>
                  <a:srgbClr val="111111"/>
                </a:solidFill>
                <a:latin typeface="Arial Black"/>
              </a:defRPr>
            </a:pPr>
            <a:r>
              <a:t>RISK RADAR &amp; SHIELD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Continuous Satellite Scan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Automated Vernacular SMS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Proactive EMI Restructuring</a:t>
            </a:r>
          </a:p>
          <a:p>
            <a:pPr>
              <a:spcAft>
                <a:spcPts val="400"/>
              </a:spcAft>
              <a:defRPr sz="950" b="1">
                <a:solidFill>
                  <a:srgbClr val="111111"/>
                </a:solidFill>
                <a:latin typeface="Calibri"/>
              </a:defRPr>
            </a:pPr>
            <a:r>
              <a:t>▸ Field Officer Dispatch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77840"/>
            <a:ext cx="92811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050">
                <a:solidFill>
                  <a:srgbClr val="17402C"/>
                </a:solidFill>
                <a:latin typeface="Arial Black"/>
              </a:defRPr>
            </a:pPr>
            <a:r>
              <a:t>CORE ARCHITECTURAL HIGHLIGHTS // SCALABLE CLOUD PIPELINE</a:t>
            </a:r>
          </a:p>
          <a:p>
            <a:pPr>
              <a:defRPr sz="950">
                <a:solidFill>
                  <a:srgbClr val="111111"/>
                </a:solidFill>
                <a:latin typeface="Calibri"/>
              </a:defRPr>
            </a:pPr>
            <a:r>
              <a:t>• Ingestion: Automated Copernicus Open Access Hub API  |  • Model: XGBoost Regression with Treelite low-latency C-runtime (&lt;15ms inference)  |  • Database: PostGIS Spatial DB  |  • Security: 256-bit Cadastre Encryption with RBI Digital Lending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TVS CREDIT E.P.I.C 8 // IT CASE STUDY // PROBLEM STATEMENT (C)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GEOSPATIAL AI: SENTINEL-2 NDVI &amp; CADASTRAL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448056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>
                <a:solidFill>
                  <a:srgbClr val="17402C"/>
                </a:solidFill>
                <a:latin typeface="Arial Black"/>
              </a:defRPr>
            </a:pPr>
            <a:r>
              <a:t>SATELLITE METHODOLOGY &amp; PIPELINE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• 10-Meter Optical Multi-Spectral Resolution</a:t>
            </a:r>
          </a:p>
          <a:p>
            <a:pPr>
              <a:spcAft>
                <a:spcPts val="4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Ingests Sentinel-2A and 2B constellations revisiting farm parcels every 5 days for real-time cloud-masked telemetry.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• Normalized Difference Vegetation Index (NDVI)</a:t>
            </a:r>
          </a:p>
          <a:p>
            <a:pPr>
              <a:spcAft>
                <a:spcPts val="4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Calculated via (Band 8 NIR - Band 4 Red) / (Band 8 NIR + Band 4 Red). Direct indicator of chlorophyll activity and biomass density.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• 24-Month Temporal Trajectory</a:t>
            </a:r>
          </a:p>
          <a:p>
            <a:pPr>
              <a:spcAft>
                <a:spcPts val="4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Compares active crop phenology against 2-year historical benchmarks to detect growth anomalies, pest damage, or delayed sowing.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• Automated Boundary Cadastre Lookup</a:t>
            </a:r>
          </a:p>
          <a:p>
            <a:pPr>
              <a:spcAft>
                <a:spcPts val="4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Cross-validates claimed survey numbers against digitised State Bhulekh/Bhoomi registries, stopping ghost-plot loan fraud.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40680" y="1828800"/>
            <a:ext cx="4572000" cy="4389120"/>
          </a:xfrm>
          <a:prstGeom prst="rect">
            <a:avLst/>
          </a:prstGeom>
          <a:solidFill>
            <a:srgbClr val="EEF8F2"/>
          </a:solidFill>
          <a:ln w="2540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>
                <a:solidFill>
                  <a:srgbClr val="17402C"/>
                </a:solidFill>
                <a:latin typeface="Arial Black"/>
              </a:defRPr>
            </a:pPr>
            <a:r>
              <a:t>NDVI UNDERWRITING THRESHOLD MATRIX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■ NDVI &gt; 0.65 (OPTIMAL HEALTH)</a:t>
            </a:r>
          </a:p>
          <a:p>
            <a:pPr>
              <a:spcAft>
                <a:spcPts val="5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Status: High Chlorophyll Biomass</a:t>
            </a:r>
            <a:br/>
            <a:r>
              <a:t>  Action: Sanction Approved: Maximum 90% LTV, Preferred 11.5% interest rate, zero manual audit requirement.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■ NDVI 0.40 - 0.65 (MODERATE)</a:t>
            </a:r>
          </a:p>
          <a:p>
            <a:pPr>
              <a:spcAft>
                <a:spcPts val="5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Status: Normal Crop Growth</a:t>
            </a:r>
            <a:br/>
            <a:r>
              <a:t>  Action: Sanction Approved: Standard 80% LTV, 12.2% rate, automated disbursement to TVS Wallet.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■ NDVI 0.20 - 0.40 (VEGETATIVE STRESS)</a:t>
            </a:r>
          </a:p>
          <a:p>
            <a:pPr>
              <a:spcAft>
                <a:spcPts val="5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Status: Moisture Deficit Detected</a:t>
            </a:r>
            <a:br/>
            <a:r>
              <a:t>  Action: Conditional Approval: Requires irrigation validation (borewell/canal) or co-applicant guarantee.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■ NDVI &lt; 0.20 (BARREN / FAILURE)</a:t>
            </a:r>
          </a:p>
          <a:p>
            <a:pPr>
              <a:spcAft>
                <a:spcPts val="5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Status: Stunted Crop / Dry Plot</a:t>
            </a:r>
            <a:br/>
            <a:r>
              <a:t>  Action: Declined / Restructuring: Automatically diverted to disaster relief &amp; crop insurance claim assistance.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TVS CREDIT E.P.I.C 8 // IT CASE STUDY // PROBLEM STATEMENT (C)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EXPLAINABLE AI: ALTERNATIVE MULTI-FACTOR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9281160" cy="777240"/>
          </a:xfrm>
          <a:prstGeom prst="rect">
            <a:avLst/>
          </a:prstGeom>
          <a:solidFill>
            <a:srgbClr val="EEF8F2"/>
          </a:solidFill>
          <a:ln w="1905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00">
                <a:solidFill>
                  <a:srgbClr val="1E874B"/>
                </a:solidFill>
                <a:latin typeface="Arial Black"/>
              </a:defRPr>
            </a:pPr>
            <a:r>
              <a:t>CROP CANOPY VIGOR (NDVI)  //  +35% WEIGHT</a:t>
            </a:r>
          </a:p>
          <a:p>
            <a:pPr>
              <a:defRPr sz="950">
                <a:solidFill>
                  <a:srgbClr val="111111"/>
                </a:solidFill>
                <a:latin typeface="Calibri"/>
              </a:defRPr>
            </a:pPr>
            <a:r>
              <a:t>Satellite multi-spectral vegetation curve confirming active farming, chlorophyll density, and projected crop cutting yield.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97480"/>
            <a:ext cx="9281160" cy="777240"/>
          </a:xfrm>
          <a:prstGeom prst="rect">
            <a:avLst/>
          </a:prstGeom>
          <a:solidFill>
            <a:srgbClr val="EEF6FC"/>
          </a:solidFill>
          <a:ln w="1905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00">
                <a:solidFill>
                  <a:srgbClr val="00609C"/>
                </a:solidFill>
                <a:latin typeface="Arial Black"/>
              </a:defRPr>
            </a:pPr>
            <a:r>
              <a:t>PRECIPITATION &amp; WATER ACCESS  //  +20% WEIGHT</a:t>
            </a:r>
          </a:p>
          <a:p>
            <a:pPr>
              <a:defRPr sz="950">
                <a:solidFill>
                  <a:srgbClr val="111111"/>
                </a:solidFill>
                <a:latin typeface="Calibri"/>
              </a:defRPr>
            </a:pPr>
            <a:r>
              <a:t>30-year IMD monsoon anomaly comparison, drought frequency modeling, and tube-well/perennial canal irrigation access.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9281160" cy="777240"/>
          </a:xfrm>
          <a:prstGeom prst="rect">
            <a:avLst/>
          </a:prstGeom>
          <a:solidFill>
            <a:srgbClr val="FFF9E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00">
                <a:solidFill>
                  <a:srgbClr val="D97706"/>
                </a:solidFill>
                <a:latin typeface="Arial Black"/>
              </a:defRPr>
            </a:pPr>
            <a:r>
              <a:t>MANDI ACCESSIBILITY &amp; CASH-IN  //  +15% WEIGHT</a:t>
            </a:r>
          </a:p>
          <a:p>
            <a:pPr>
              <a:defRPr sz="950">
                <a:solidFill>
                  <a:srgbClr val="111111"/>
                </a:solidFill>
                <a:latin typeface="Calibri"/>
              </a:defRPr>
            </a:pPr>
            <a:r>
              <a:t>Proximity to regulated APMC wholesale mandis, historical market realization rates, and modal price volatility metrics.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34840"/>
            <a:ext cx="9281160" cy="777240"/>
          </a:xfrm>
          <a:prstGeom prst="rect">
            <a:avLst/>
          </a:prstGeom>
          <a:solidFill>
            <a:srgbClr val="EEF8F2"/>
          </a:solidFill>
          <a:ln w="1905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00">
                <a:solidFill>
                  <a:srgbClr val="17402C"/>
                </a:solidFill>
                <a:latin typeface="Arial Black"/>
              </a:defRPr>
            </a:pPr>
            <a:r>
              <a:t>SOIL QUALITY &amp; CROP ROTATION  //  +15% WEIGHT</a:t>
            </a:r>
          </a:p>
          <a:p>
            <a:pPr>
              <a:defRPr sz="950">
                <a:solidFill>
                  <a:srgbClr val="111111"/>
                </a:solidFill>
                <a:latin typeface="Calibri"/>
              </a:defRPr>
            </a:pPr>
            <a:r>
              <a:t>Soil texture classification (black cotton, alluvial loam) and demonstrated multi-season crop diversification track.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9281160" cy="777240"/>
          </a:xfrm>
          <a:prstGeom prst="rect">
            <a:avLst/>
          </a:prstGeom>
          <a:solidFill>
            <a:srgbClr val="FDEDED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/>
          <a:lstStyle/>
          <a:p>
            <a:pPr algn="ctr">
              <a:defRPr sz="1100">
                <a:solidFill>
                  <a:srgbClr val="FF6B6B"/>
                </a:solidFill>
                <a:latin typeface="Arial Black"/>
              </a:defRPr>
            </a:pPr>
            <a:r>
              <a:t>ASSET PROXIES &amp; REPAYMENT TRACK  //  +15% WEIGHT</a:t>
            </a:r>
          </a:p>
          <a:p>
            <a:pPr>
              <a:defRPr sz="950">
                <a:solidFill>
                  <a:srgbClr val="111111"/>
                </a:solidFill>
                <a:latin typeface="Calibri"/>
              </a:defRPr>
            </a:pPr>
            <a:r>
              <a:t>Utility payments, tractor telemetry ownership data, and historical micro-loan repayment discipline.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TVS CREDIT E.P.I.C 8 // IT CASE STUDY // PROBLEM STATEMENT (C)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PRODUCT INNOVATION: HARVEST-ALIGNED REPAYMENT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14884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>
                <a:solidFill>
                  <a:srgbClr val="17402C"/>
                </a:solidFill>
                <a:latin typeface="Arial Black"/>
              </a:defRPr>
            </a:pPr>
            <a:r>
              <a:t>PHASE 1: SOWING</a:t>
            </a:r>
          </a:p>
          <a:p>
            <a:pPr>
              <a:defRPr sz="850" b="1">
                <a:solidFill>
                  <a:srgbClr val="555555"/>
                </a:solidFill>
                <a:latin typeface="Calibri"/>
              </a:defRPr>
            </a:pPr>
            <a:r>
              <a:t>JUN - AUG (3 MONTHS)</a:t>
            </a:r>
          </a:p>
          <a:p>
            <a:pPr>
              <a:spcAft>
                <a:spcPts val="800"/>
              </a:spcAft>
              <a:defRPr sz="850" i="1">
                <a:solidFill>
                  <a:srgbClr val="111111"/>
                </a:solidFill>
                <a:latin typeface="Calibri"/>
              </a:defRPr>
            </a:pPr>
            <a:r>
              <a:t>Cash Flow: Peak Cash Outflow</a:t>
            </a:r>
            <a:br/>
            <a:r>
              <a:t>(Seeds, Fertilizers, Diesel, Labor)</a:t>
            </a:r>
          </a:p>
          <a:p>
            <a:pPr>
              <a:defRPr sz="850">
                <a:solidFill>
                  <a:srgbClr val="FF6B6B"/>
                </a:solidFill>
                <a:latin typeface="Arial Black"/>
              </a:defRPr>
            </a:pPr>
            <a:r>
              <a:t>❌ TRADITIONAL FLAT:</a:t>
            </a:r>
          </a:p>
          <a:p>
            <a:pPr>
              <a:spcAft>
                <a:spcPts val="800"/>
              </a:spcAft>
              <a:defRPr sz="850">
                <a:solidFill>
                  <a:srgbClr val="111111"/>
                </a:solidFill>
                <a:latin typeface="Calibri"/>
              </a:defRPr>
            </a:pPr>
            <a:r>
              <a:t>EMI: ₹12,500 / mo</a:t>
            </a:r>
            <a:br/>
            <a:r>
              <a:t>Impact: Severe Cash Deficit → 18.4% Default</a:t>
            </a:r>
          </a:p>
          <a:p>
            <a:pPr>
              <a:defRPr sz="850">
                <a:solidFill>
                  <a:srgbClr val="1E874B"/>
                </a:solidFill>
                <a:latin typeface="Arial Black"/>
              </a:defRPr>
            </a:pPr>
            <a:r>
              <a:t>✅ TVS HARVEST-ALIGNED:</a:t>
            </a:r>
          </a:p>
          <a:p>
            <a:pPr>
              <a:defRPr sz="850">
                <a:solidFill>
                  <a:srgbClr val="17402C"/>
                </a:solidFill>
                <a:latin typeface="Calibri"/>
              </a:defRPr>
            </a:pPr>
            <a:r>
              <a:t>EMI: ₹800 / mo</a:t>
            </a:r>
            <a:br/>
            <a:r>
              <a:t>Impact: Token Interest Only → Zero Default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1828800"/>
            <a:ext cx="214884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>
                <a:solidFill>
                  <a:srgbClr val="17402C"/>
                </a:solidFill>
                <a:latin typeface="Arial Black"/>
              </a:defRPr>
            </a:pPr>
            <a:r>
              <a:t>PHASE 2: VEGETATIVE</a:t>
            </a:r>
          </a:p>
          <a:p>
            <a:pPr>
              <a:defRPr sz="850" b="1">
                <a:solidFill>
                  <a:srgbClr val="555555"/>
                </a:solidFill>
                <a:latin typeface="Calibri"/>
              </a:defRPr>
            </a:pPr>
            <a:r>
              <a:t>SEP (1 MONTH)</a:t>
            </a:r>
          </a:p>
          <a:p>
            <a:pPr>
              <a:spcAft>
                <a:spcPts val="800"/>
              </a:spcAft>
              <a:defRPr sz="850" i="1">
                <a:solidFill>
                  <a:srgbClr val="111111"/>
                </a:solidFill>
                <a:latin typeface="Calibri"/>
              </a:defRPr>
            </a:pPr>
            <a:r>
              <a:t>Cash Flow: Maintenance Outflow</a:t>
            </a:r>
            <a:br/>
            <a:r>
              <a:t>(Pesticide sprays &amp; weeding)</a:t>
            </a:r>
          </a:p>
          <a:p>
            <a:pPr>
              <a:defRPr sz="850">
                <a:solidFill>
                  <a:srgbClr val="FF6B6B"/>
                </a:solidFill>
                <a:latin typeface="Arial Black"/>
              </a:defRPr>
            </a:pPr>
            <a:r>
              <a:t>❌ TRADITIONAL FLAT:</a:t>
            </a:r>
          </a:p>
          <a:p>
            <a:pPr>
              <a:spcAft>
                <a:spcPts val="800"/>
              </a:spcAft>
              <a:defRPr sz="850">
                <a:solidFill>
                  <a:srgbClr val="111111"/>
                </a:solidFill>
                <a:latin typeface="Calibri"/>
              </a:defRPr>
            </a:pPr>
            <a:r>
              <a:t>EMI: ₹12,500 / mo</a:t>
            </a:r>
            <a:br/>
            <a:r>
              <a:t>Impact: Liquidity Strain → Missed Payments</a:t>
            </a:r>
          </a:p>
          <a:p>
            <a:pPr>
              <a:defRPr sz="850">
                <a:solidFill>
                  <a:srgbClr val="1E874B"/>
                </a:solidFill>
                <a:latin typeface="Arial Black"/>
              </a:defRPr>
            </a:pPr>
            <a:r>
              <a:t>✅ TVS HARVEST-ALIGNED:</a:t>
            </a:r>
          </a:p>
          <a:p>
            <a:pPr>
              <a:defRPr sz="850">
                <a:solidFill>
                  <a:srgbClr val="17402C"/>
                </a:solidFill>
                <a:latin typeface="Calibri"/>
              </a:defRPr>
            </a:pPr>
            <a:r>
              <a:t>EMI: ₹1,200 / mo</a:t>
            </a:r>
            <a:br/>
            <a:r>
              <a:t>Impact: Low Maintenance EMI → Working Capital Intact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828800"/>
            <a:ext cx="214884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>
                <a:solidFill>
                  <a:srgbClr val="17402C"/>
                </a:solidFill>
                <a:latin typeface="Arial Black"/>
              </a:defRPr>
            </a:pPr>
            <a:r>
              <a:t>PHASE 3: HARVEST &amp; MANDI</a:t>
            </a:r>
          </a:p>
          <a:p>
            <a:pPr>
              <a:defRPr sz="850" b="1">
                <a:solidFill>
                  <a:srgbClr val="555555"/>
                </a:solidFill>
                <a:latin typeface="Calibri"/>
              </a:defRPr>
            </a:pPr>
            <a:r>
              <a:t>OCT - NOV (2 MONTHS)</a:t>
            </a:r>
          </a:p>
          <a:p>
            <a:pPr>
              <a:spcAft>
                <a:spcPts val="800"/>
              </a:spcAft>
              <a:defRPr sz="850" i="1">
                <a:solidFill>
                  <a:srgbClr val="111111"/>
                </a:solidFill>
                <a:latin typeface="Calibri"/>
              </a:defRPr>
            </a:pPr>
            <a:r>
              <a:t>Cash Flow: Massive Cash Inflow</a:t>
            </a:r>
            <a:br/>
            <a:r>
              <a:t>(APMC wholesale crop realization)</a:t>
            </a:r>
          </a:p>
          <a:p>
            <a:pPr>
              <a:defRPr sz="850">
                <a:solidFill>
                  <a:srgbClr val="FF6B6B"/>
                </a:solidFill>
                <a:latin typeface="Arial Black"/>
              </a:defRPr>
            </a:pPr>
            <a:r>
              <a:t>❌ TRADITIONAL FLAT:</a:t>
            </a:r>
          </a:p>
          <a:p>
            <a:pPr>
              <a:spcAft>
                <a:spcPts val="800"/>
              </a:spcAft>
              <a:defRPr sz="850">
                <a:solidFill>
                  <a:srgbClr val="111111"/>
                </a:solidFill>
                <a:latin typeface="Calibri"/>
              </a:defRPr>
            </a:pPr>
            <a:r>
              <a:t>EMI: ₹12,500 / mo</a:t>
            </a:r>
            <a:br/>
            <a:r>
              <a:t>Impact: Under-collects surplus cash liquidity</a:t>
            </a:r>
          </a:p>
          <a:p>
            <a:pPr>
              <a:defRPr sz="850">
                <a:solidFill>
                  <a:srgbClr val="1E874B"/>
                </a:solidFill>
                <a:latin typeface="Arial Black"/>
              </a:defRPr>
            </a:pPr>
            <a:r>
              <a:t>✅ TVS HARVEST-ALIGNED:</a:t>
            </a:r>
          </a:p>
          <a:p>
            <a:pPr>
              <a:defRPr sz="850">
                <a:solidFill>
                  <a:srgbClr val="17402C"/>
                </a:solidFill>
                <a:latin typeface="Calibri"/>
              </a:defRPr>
            </a:pPr>
            <a:r>
              <a:t>EMI: ₹68,000 Bullet</a:t>
            </a:r>
            <a:br/>
            <a:r>
              <a:t>Impact: Syncs with ₹1.8L+ Mandi crop payout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80" y="1828800"/>
            <a:ext cx="214884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050">
                <a:solidFill>
                  <a:srgbClr val="17402C"/>
                </a:solidFill>
                <a:latin typeface="Arial Black"/>
              </a:defRPr>
            </a:pPr>
            <a:r>
              <a:t>PHASE 4: RABI / OFF-SEASON</a:t>
            </a:r>
          </a:p>
          <a:p>
            <a:pPr>
              <a:defRPr sz="850" b="1">
                <a:solidFill>
                  <a:srgbClr val="555555"/>
                </a:solidFill>
                <a:latin typeface="Calibri"/>
              </a:defRPr>
            </a:pPr>
            <a:r>
              <a:t>DEC - MAY (6 MONTHS)</a:t>
            </a:r>
          </a:p>
          <a:p>
            <a:pPr>
              <a:spcAft>
                <a:spcPts val="800"/>
              </a:spcAft>
              <a:defRPr sz="850" i="1">
                <a:solidFill>
                  <a:srgbClr val="111111"/>
                </a:solidFill>
                <a:latin typeface="Calibri"/>
              </a:defRPr>
            </a:pPr>
            <a:r>
              <a:t>Cash Flow: Stabilized Cash Flow</a:t>
            </a:r>
            <a:br/>
            <a:r>
              <a:t>(Winter crop &amp; allied income)</a:t>
            </a:r>
          </a:p>
          <a:p>
            <a:pPr>
              <a:defRPr sz="850">
                <a:solidFill>
                  <a:srgbClr val="FF6B6B"/>
                </a:solidFill>
                <a:latin typeface="Arial Black"/>
              </a:defRPr>
            </a:pPr>
            <a:r>
              <a:t>❌ TRADITIONAL FLAT:</a:t>
            </a:r>
          </a:p>
          <a:p>
            <a:pPr>
              <a:spcAft>
                <a:spcPts val="800"/>
              </a:spcAft>
              <a:defRPr sz="850">
                <a:solidFill>
                  <a:srgbClr val="111111"/>
                </a:solidFill>
                <a:latin typeface="Calibri"/>
              </a:defRPr>
            </a:pPr>
            <a:r>
              <a:t>EMI: ₹12,500 / mo</a:t>
            </a:r>
            <a:br/>
            <a:r>
              <a:t>Impact: Rigid burden during winter sowing</a:t>
            </a:r>
          </a:p>
          <a:p>
            <a:pPr>
              <a:defRPr sz="850">
                <a:solidFill>
                  <a:srgbClr val="1E874B"/>
                </a:solidFill>
                <a:latin typeface="Arial Black"/>
              </a:defRPr>
            </a:pPr>
            <a:r>
              <a:t>✅ TVS HARVEST-ALIGNED:</a:t>
            </a:r>
          </a:p>
          <a:p>
            <a:pPr>
              <a:defRPr sz="850">
                <a:solidFill>
                  <a:srgbClr val="17402C"/>
                </a:solidFill>
                <a:latin typeface="Calibri"/>
              </a:defRPr>
            </a:pPr>
            <a:r>
              <a:t>EMI: ₹1,000 / mo</a:t>
            </a:r>
            <a:br/>
            <a:r>
              <a:t>Impact: Buffer cushion for Rabi field inputs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PROTOTYPE SHOWCASE // LIVE LINK: HTTPS://TVS-PIED.VERCEL.APP/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LIVE PROTOTYPE: DIGITAL ONBOARDING &amp; SATELLITE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45262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>
                <a:solidFill>
                  <a:srgbClr val="17402C"/>
                </a:solidFill>
                <a:latin typeface="Arial Black"/>
              </a:defRPr>
            </a:pPr>
            <a:r>
              <a:t>1. ZERO-PAPERWORK FARMER APPLICATION (/apply)</a:t>
            </a:r>
          </a:p>
        </p:txBody>
      </p:sp>
      <p:pic>
        <p:nvPicPr>
          <p:cNvPr id="5" name="Picture 4" descr="fresh_ap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4251960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663440"/>
            <a:ext cx="4251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3-Step Guided Flow: Quick-select presets for Ramesh Patil, Gurpreet Singh, etc.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Automated Cadastre Match: Auto-populates State, District, Village &amp; Survey number.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Zero CIBIL Required: Instant alternative evaluation for unbanked smallholders.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48-Hour Disbursal Guarantee: Direct TVS loan sanction generation in under 3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0680" y="1783080"/>
            <a:ext cx="457200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>
                <a:solidFill>
                  <a:srgbClr val="17402C"/>
                </a:solidFill>
                <a:latin typeface="Arial Black"/>
              </a:defRPr>
            </a:pPr>
            <a:r>
              <a:t>2. SATELLITE MAP &amp; SHAP DRIVERS (/scoring)</a:t>
            </a:r>
          </a:p>
        </p:txBody>
      </p:sp>
      <p:pic>
        <p:nvPicPr>
          <p:cNvPr id="8" name="Picture 7" descr="fresh_sc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48840"/>
            <a:ext cx="429768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0" y="4663440"/>
            <a:ext cx="4297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Interactive Leaflet Map: Geospatial parcel boundary with active NDVI 0.68 display.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Transparent Score Card: Instant AI Score 74/100 (Low-Medium Risk Profile).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Explainable SHAP Drivers: Direct positive factor attribution breakdown for credit.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Dynamic EMI Simulation: Previews token sowing installment vs harvest bullet.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PROTOTYPE SHOWCASE // LIVE LINK: HTTPS://TVS-PIED.VERCEL.APP/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LIVE PROTOTYPE: EARLY-WARNING RADAR &amp; TVS SAHAYAK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45262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>
                <a:solidFill>
                  <a:srgbClr val="FF6B6B"/>
                </a:solidFill>
                <a:latin typeface="Arial Black"/>
              </a:defRPr>
            </a:pPr>
            <a:r>
              <a:t>3. AGRO-CLIMATIC RISK RADAR (/monitoring)</a:t>
            </a:r>
          </a:p>
        </p:txBody>
      </p:sp>
      <p:pic>
        <p:nvPicPr>
          <p:cNvPr id="5" name="Picture 4" descr="fresh_monit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4251960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663440"/>
            <a:ext cx="4251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Real-Time Portfolio Telemetry: 1,565 borrowers at risk, ₹6,700L exposure tracked.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Drought &amp; Anomaly Feeds: Flags severe rainfall deficits (-38%) in Yavatmal.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One-Click Restructuring: Automated 60-day moratorium on principal repayment.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Field Officer Dispatch: Routes local agro-officers to assist distressed farmers.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0680" y="1783080"/>
            <a:ext cx="457200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>
                <a:solidFill>
                  <a:srgbClr val="00609C"/>
                </a:solidFill>
                <a:latin typeface="Arial Black"/>
              </a:defRPr>
            </a:pPr>
            <a:r>
              <a:t>4. GENAI MULTILINGUAL SAHAYAK (/assistant)</a:t>
            </a:r>
          </a:p>
        </p:txBody>
      </p:sp>
      <p:pic>
        <p:nvPicPr>
          <p:cNvPr id="8" name="Picture 7" descr="fresh_assist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48840"/>
            <a:ext cx="429768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0" y="4663440"/>
            <a:ext cx="4297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Vernacular Dialogue: Converses fluently in Hindi, Marathi, Tamil, Telugu &amp; English.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Jargon Translation: Converts complex SHAP &amp; NDVI terms into farming analogies.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Quick Question Chips: 'How do you verify land?', 'What documents do I need?'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Fraud Protection: Educates farmers against local predatory commission middlemen.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PROTOTYPE SHOWCASE // LIVE LINK: HTTPS://TVS-PIED.VERCEL.APP/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LIVE PROTOTYPE: NEO-BRUTALIST UI &amp; CREDIT COMMITTEE 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45262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>
                <a:solidFill>
                  <a:srgbClr val="17402C"/>
                </a:solidFill>
                <a:latin typeface="Arial Black"/>
              </a:defRPr>
            </a:pPr>
            <a:r>
              <a:t>5. NEO-BRUTALIST BORROWER PORTAL (/)</a:t>
            </a:r>
          </a:p>
        </p:txBody>
      </p:sp>
      <p:pic>
        <p:nvPicPr>
          <p:cNvPr id="5" name="Picture 4" descr="fresh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4251960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663440"/>
            <a:ext cx="4251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Sunlight-Optimized Neo-Brutalism: 3px solid ink borders and flat offset shadows.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High Contrast: Ultra-crisp readability on low-cost mobile screens in rural fields.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Running Ticker Tape: CRISIL AA+ stability, zero-CIBIL underwriting, Sentinel-2 feeds.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Direct Access: Seamless navigation between application, scoring, and AI Sahayak.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0680" y="1783080"/>
            <a:ext cx="457200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>
                <a:solidFill>
                  <a:srgbClr val="D97706"/>
                </a:solidFill>
                <a:latin typeface="Arial Black"/>
              </a:defRPr>
            </a:pPr>
            <a:r>
              <a:t>6. CREDIT COMMITTEE PORTFOLIO DESK (/staff)</a:t>
            </a:r>
          </a:p>
        </p:txBody>
      </p:sp>
      <p:pic>
        <p:nvPicPr>
          <p:cNvPr id="8" name="Picture 7" descr="fresh_sta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48840"/>
            <a:ext cx="429768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0" y="4663440"/>
            <a:ext cx="4297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Portfolio Risk Stratification: Real-time distribution across 4 distinct risk tiers.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Agro-Climatic Score Breakdown: District benchmarks across Yavatmal, Bathinda, etc.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Batch Sanction Approvals: Fast-track queue management for loan officers.</a:t>
            </a:r>
          </a:p>
          <a:p>
            <a:pPr>
              <a:spcAft>
                <a:spcPts val="200"/>
              </a:spcAft>
              <a:defRPr sz="900">
                <a:solidFill>
                  <a:srgbClr val="111111"/>
                </a:solidFill>
                <a:latin typeface="Calibri"/>
              </a:defRPr>
            </a:pPr>
            <a:r>
              <a:t>• Prudential Concentration: Enforces regional exposure safety caps under RBI norms.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TVS CREDIT E.P.I.C 8 // IT CASE STUDY // PROBLEM STATEMENT (C)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BUSINESS IMPACT, ROI &amp; SCALABILITY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40280" cy="1645920"/>
          </a:xfrm>
          <a:prstGeom prst="rect">
            <a:avLst/>
          </a:prstGeom>
          <a:solidFill>
            <a:srgbClr val="EEF6FC"/>
          </a:solidFill>
          <a:ln w="2286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200">
                <a:solidFill>
                  <a:srgbClr val="00609C"/>
                </a:solidFill>
                <a:latin typeface="Arial Black"/>
              </a:defRPr>
            </a:pPr>
            <a:r>
              <a:t>&lt; 3 MIN</a:t>
            </a:r>
          </a:p>
          <a:p>
            <a:pPr>
              <a:defRPr sz="1000" b="1">
                <a:solidFill>
                  <a:srgbClr val="111111"/>
                </a:solidFill>
                <a:latin typeface="Calibri"/>
              </a:defRPr>
            </a:pPr>
            <a:r>
              <a:t>SANCTION TURNAROUND</a:t>
            </a:r>
          </a:p>
          <a:p>
            <a:pPr>
              <a:defRPr sz="850">
                <a:solidFill>
                  <a:srgbClr val="555555"/>
                </a:solidFill>
                <a:latin typeface="Calibri"/>
              </a:defRPr>
            </a:pPr>
            <a:r>
              <a:t>Down from 14-21 days of manual field audits.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39" y="1828800"/>
            <a:ext cx="2240280" cy="1645920"/>
          </a:xfrm>
          <a:prstGeom prst="rect">
            <a:avLst/>
          </a:prstGeom>
          <a:solidFill>
            <a:srgbClr val="EEF8F2"/>
          </a:solidFill>
          <a:ln w="2286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200">
                <a:solidFill>
                  <a:srgbClr val="1E874B"/>
                </a:solidFill>
                <a:latin typeface="Arial Black"/>
              </a:defRPr>
            </a:pPr>
            <a:r>
              <a:t>38% DROP</a:t>
            </a:r>
          </a:p>
          <a:p>
            <a:pPr>
              <a:defRPr sz="1000" b="1">
                <a:solidFill>
                  <a:srgbClr val="111111"/>
                </a:solidFill>
                <a:latin typeface="Calibri"/>
              </a:defRPr>
            </a:pPr>
            <a:r>
              <a:t>UNDERWRITING CAC</a:t>
            </a:r>
          </a:p>
          <a:p>
            <a:pPr>
              <a:defRPr sz="850">
                <a:solidFill>
                  <a:srgbClr val="555555"/>
                </a:solidFill>
                <a:latin typeface="Calibri"/>
              </a:defRPr>
            </a:pPr>
            <a:r>
              <a:t>Remote satellite scans eliminate physical survey travel.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59" y="1828800"/>
            <a:ext cx="2240280" cy="1645920"/>
          </a:xfrm>
          <a:prstGeom prst="rect">
            <a:avLst/>
          </a:prstGeom>
          <a:solidFill>
            <a:srgbClr val="FFF9E6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200">
                <a:solidFill>
                  <a:srgbClr val="D97706"/>
                </a:solidFill>
                <a:latin typeface="Arial Black"/>
              </a:defRPr>
            </a:pPr>
            <a:r>
              <a:t>42% LESS</a:t>
            </a:r>
          </a:p>
          <a:p>
            <a:pPr>
              <a:defRPr sz="1000" b="1">
                <a:solidFill>
                  <a:srgbClr val="111111"/>
                </a:solidFill>
                <a:latin typeface="Calibri"/>
              </a:defRPr>
            </a:pPr>
            <a:r>
              <a:t>90-DAY DELINQUENCY</a:t>
            </a:r>
          </a:p>
          <a:p>
            <a:pPr>
              <a:defRPr sz="850">
                <a:solidFill>
                  <a:srgbClr val="555555"/>
                </a:solidFill>
                <a:latin typeface="Calibri"/>
              </a:defRPr>
            </a:pPr>
            <a:r>
              <a:t>Harvest EMIs eliminate artificial sowing season defaults.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828800"/>
            <a:ext cx="2240280" cy="1645920"/>
          </a:xfrm>
          <a:prstGeom prst="rect">
            <a:avLst/>
          </a:prstGeom>
          <a:solidFill>
            <a:srgbClr val="EEF8F2"/>
          </a:solidFill>
          <a:ln w="2286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200">
                <a:solidFill>
                  <a:srgbClr val="17402C"/>
                </a:solidFill>
                <a:latin typeface="Arial Black"/>
              </a:defRPr>
            </a:pPr>
            <a:r>
              <a:t>90% LTV</a:t>
            </a:r>
          </a:p>
          <a:p>
            <a:pPr>
              <a:defRPr sz="1000" b="1">
                <a:solidFill>
                  <a:srgbClr val="111111"/>
                </a:solidFill>
                <a:latin typeface="Calibri"/>
              </a:defRPr>
            </a:pPr>
            <a:r>
              <a:t>MAXIMUM FINANCING</a:t>
            </a:r>
          </a:p>
          <a:p>
            <a:pPr>
              <a:defRPr sz="850">
                <a:solidFill>
                  <a:srgbClr val="555555"/>
                </a:solidFill>
                <a:latin typeface="Calibri"/>
              </a:defRPr>
            </a:pPr>
            <a:r>
              <a:t>Increased from 70% industry average with satellite certainty.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03320"/>
            <a:ext cx="9281160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200">
                <a:solidFill>
                  <a:srgbClr val="17402C"/>
                </a:solidFill>
                <a:latin typeface="Arial Black"/>
              </a:defRPr>
            </a:pPr>
            <a:r>
              <a:t>STRATEGIC SCALING ROADMAP // 2026 - 2028</a:t>
            </a:r>
          </a:p>
          <a:p>
            <a:pPr>
              <a:defRPr sz="950" b="1">
                <a:solidFill>
                  <a:srgbClr val="17402C"/>
                </a:solidFill>
                <a:latin typeface="Calibri"/>
              </a:defRPr>
            </a:pPr>
            <a:r>
              <a:t>★ PHASE 1: NATIONWIDE SATELLITE EXPANSION</a:t>
            </a:r>
          </a:p>
          <a:p>
            <a:pPr>
              <a:spcAft>
                <a:spcPts val="200"/>
              </a:spcAft>
              <a:defRPr sz="850">
                <a:solidFill>
                  <a:srgbClr val="111111"/>
                </a:solidFill>
                <a:latin typeface="Calibri"/>
              </a:defRPr>
            </a:pPr>
            <a:r>
              <a:t>   Scale Sentinel-2 &amp; SAR radar cadastre to 150+ agro-climatic zones across Maharashtra, Punjab, Tamil Nadu, MP, UP, and Rajasthan.</a:t>
            </a:r>
          </a:p>
          <a:p>
            <a:pPr>
              <a:defRPr sz="950" b="1">
                <a:solidFill>
                  <a:srgbClr val="17402C"/>
                </a:solidFill>
                <a:latin typeface="Calibri"/>
              </a:defRPr>
            </a:pPr>
            <a:r>
              <a:t>★ PHASE 2: IOT SENSOR &amp; E-NAM DIGITAL MANDI INTEGRATION</a:t>
            </a:r>
          </a:p>
          <a:p>
            <a:pPr>
              <a:spcAft>
                <a:spcPts val="200"/>
              </a:spcAft>
              <a:defRPr sz="850">
                <a:solidFill>
                  <a:srgbClr val="111111"/>
                </a:solidFill>
                <a:latin typeface="Calibri"/>
              </a:defRPr>
            </a:pPr>
            <a:r>
              <a:t>   Integrate automated digital mandi telemetry and private IoT soil-moisture probes for automated yield insurance underwriting.</a:t>
            </a:r>
          </a:p>
          <a:p>
            <a:pPr>
              <a:defRPr sz="950" b="1">
                <a:solidFill>
                  <a:srgbClr val="17402C"/>
                </a:solidFill>
                <a:latin typeface="Calibri"/>
              </a:defRPr>
            </a:pPr>
            <a:r>
              <a:t>★ PHASE 3: SUSTAINABLE GREEN AGRI-FINANCING</a:t>
            </a:r>
          </a:p>
          <a:p>
            <a:pPr>
              <a:spcAft>
                <a:spcPts val="200"/>
              </a:spcAft>
              <a:defRPr sz="850">
                <a:solidFill>
                  <a:srgbClr val="111111"/>
                </a:solidFill>
                <a:latin typeface="Calibri"/>
              </a:defRPr>
            </a:pPr>
            <a:r>
              <a:t>   Subsidized 0% interest credit tiers for PM-KUSUM solar water pumps, micro-drip irrigation, and zero-tillage residue management equipment.</a:t>
            </a:r>
          </a:p>
          <a:p>
            <a:pPr>
              <a:defRPr sz="950" b="1">
                <a:solidFill>
                  <a:srgbClr val="17402C"/>
                </a:solidFill>
                <a:latin typeface="Calibri"/>
              </a:defRPr>
            </a:pPr>
            <a:r>
              <a:t>★ PHASE 4: ONDC VALUE CHAIN EMBEDDED CREDIT</a:t>
            </a:r>
          </a:p>
          <a:p>
            <a:pPr>
              <a:spcAft>
                <a:spcPts val="200"/>
              </a:spcAft>
              <a:defRPr sz="850">
                <a:solidFill>
                  <a:srgbClr val="111111"/>
                </a:solidFill>
                <a:latin typeface="Calibri"/>
              </a:defRPr>
            </a:pPr>
            <a:r>
              <a:t>   Directly disburse funds to farm input dealers, certified seed distributors, and cold storage lockers via TVS Farmer Wallet.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3908" cy="75556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594360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09C"/>
                </a:solidFill>
                <a:latin typeface="Calibri"/>
              </a:defRPr>
            </a:pPr>
            <a:r>
              <a:t>TVS CREDIT E.P.I.C 8 // IT CASE STUDY // PROBLEM STATEMENT (C)</a:t>
            </a:r>
          </a:p>
          <a:p>
            <a:pPr>
              <a:defRPr sz="1900" b="1">
                <a:solidFill>
                  <a:srgbClr val="17402C"/>
                </a:solidFill>
                <a:latin typeface="Arial Black"/>
              </a:defRPr>
            </a:pPr>
            <a:r>
              <a:t>CONCLUSION: TRANSFORMING RURAL CREDIT FOR BHARAT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493776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>
                <a:solidFill>
                  <a:srgbClr val="17402C"/>
                </a:solidFill>
                <a:latin typeface="Arial Black"/>
              </a:defRPr>
            </a:pPr>
            <a:r>
              <a:t>TRANSFORMATIVE VALUE PROPOSITION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• For Rural Smallholders:</a:t>
            </a:r>
          </a:p>
          <a:p>
            <a:pPr>
              <a:spcAft>
                <a:spcPts val="4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Dignified, rapid access to institutional NBFC credit without mortgaging ancestral gold or borrowing from 48% local moneylenders.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• For TVS Credit:</a:t>
            </a:r>
          </a:p>
          <a:p>
            <a:pPr>
              <a:spcAft>
                <a:spcPts val="4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Massive expansion of qualified borrower pipeline with 38% lower CAC, automated 3-minute sanctions, and 42% lower delinquency.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• For National Financial Inclusion:</a:t>
            </a:r>
          </a:p>
          <a:p>
            <a:pPr>
              <a:spcAft>
                <a:spcPts val="4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Catalyzing PM-KISAN, Digital Agriculture Mission, and AgriStack integration to formalize 120M+ unbanked Indian farmers.</a:t>
            </a:r>
          </a:p>
          <a:p>
            <a:pPr>
              <a:defRPr sz="1050" b="1">
                <a:solidFill>
                  <a:srgbClr val="111111"/>
                </a:solidFill>
                <a:latin typeface="Calibri"/>
              </a:defRPr>
            </a:pPr>
            <a:r>
              <a:t>• Auditable &amp; Explainable:</a:t>
            </a:r>
          </a:p>
          <a:p>
            <a:pPr>
              <a:spcAft>
                <a:spcPts val="400"/>
              </a:spcAft>
              <a:defRPr sz="950">
                <a:solidFill>
                  <a:srgbClr val="555555"/>
                </a:solidFill>
                <a:latin typeface="Calibri"/>
              </a:defRPr>
            </a:pPr>
            <a:r>
              <a:t>  100% compliant with RBI Fair Lending guidelines with transparent SHAP factor attribution for every sanction or decline.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97880" y="1828800"/>
            <a:ext cx="4114800" cy="4389120"/>
          </a:xfrm>
          <a:prstGeom prst="rect">
            <a:avLst/>
          </a:prstGeom>
          <a:solidFill>
            <a:srgbClr val="EEF8F2"/>
          </a:solidFill>
          <a:ln w="2540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300">
                <a:solidFill>
                  <a:srgbClr val="17402C"/>
                </a:solidFill>
                <a:latin typeface="Arial Black"/>
              </a:defRPr>
            </a:pPr>
            <a:r>
              <a:t>LIVE PROTOTYPE ACCESS &amp; TEAM</a:t>
            </a:r>
          </a:p>
          <a:p>
            <a:pPr>
              <a:defRPr sz="1100">
                <a:solidFill>
                  <a:srgbClr val="00609C"/>
                </a:solidFill>
                <a:latin typeface="Arial Black"/>
              </a:defRPr>
            </a:pPr>
            <a:r>
              <a:t>🌐 EXPLORE LIVE PROTOTYPE:</a:t>
            </a:r>
          </a:p>
          <a:p>
            <a:pPr>
              <a:spcAft>
                <a:spcPts val="1200"/>
              </a:spcAft>
              <a:defRPr sz="1150" b="1">
                <a:solidFill>
                  <a:srgbClr val="17402C"/>
                </a:solidFill>
                <a:latin typeface="Calibri"/>
              </a:defRPr>
            </a:pPr>
            <a:r>
              <a:t>https://tvs-pied.vercel.app/</a:t>
            </a:r>
          </a:p>
          <a:p>
            <a:pPr>
              <a:defRPr sz="1100">
                <a:solidFill>
                  <a:srgbClr val="00609C"/>
                </a:solidFill>
                <a:latin typeface="Arial Black"/>
              </a:defRPr>
            </a:pPr>
            <a:r>
              <a:t>👥 COMPETITION TEAM:</a:t>
            </a:r>
          </a:p>
          <a:p>
            <a:pPr>
              <a:spcAft>
                <a:spcPts val="600"/>
              </a:spcAft>
              <a:defRPr sz="1150" b="1">
                <a:solidFill>
                  <a:srgbClr val="111111"/>
                </a:solidFill>
                <a:latin typeface="Calibri"/>
              </a:defRPr>
            </a:pPr>
            <a:r>
              <a:t>Team Handle: hverma0511</a:t>
            </a:r>
          </a:p>
          <a:p>
            <a:pPr>
              <a:defRPr sz="1100">
                <a:solidFill>
                  <a:srgbClr val="00609C"/>
                </a:solidFill>
                <a:latin typeface="Arial Black"/>
              </a:defRPr>
            </a:pPr>
            <a:r>
              <a:t>👤 TEAM MEMBERS:</a:t>
            </a:r>
          </a:p>
          <a:p>
            <a:pPr>
              <a:spcAft>
                <a:spcPts val="1400"/>
              </a:spcAft>
              <a:defRPr sz="1150" b="1">
                <a:solidFill>
                  <a:srgbClr val="111111"/>
                </a:solidFill>
                <a:latin typeface="Calibri"/>
              </a:defRPr>
            </a:pPr>
            <a:r>
              <a:t>• Harshit Verma</a:t>
            </a:r>
            <a:br/>
            <a:r>
              <a:t>• Nandani Singh</a:t>
            </a:r>
          </a:p>
          <a:p>
            <a:pPr>
              <a:defRPr sz="1600">
                <a:solidFill>
                  <a:srgbClr val="17402C"/>
                </a:solidFill>
                <a:latin typeface="Arial Black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